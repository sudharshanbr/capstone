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9259"/>
  </p:normalViewPr>
  <p:slideViewPr>
    <p:cSldViewPr snapToGrid="0" snapToObjects="1">
      <p:cViewPr varScale="1">
        <p:scale>
          <a:sx n="85" d="100"/>
          <a:sy n="85" d="100"/>
        </p:scale>
        <p:origin x="1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5739-5A62-CD43-8319-F7F7EFBF0156}" type="datetimeFigureOut">
              <a:rPr lang="en-US" smtClean="0"/>
              <a:t>3/1/22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243F2-6F60-7842-8C0B-9D28A9DF8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7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MRP - Manufacturing Resource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43F2-6F60-7842-8C0B-9D28A9DF8E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00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use this metric – why not relative error…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43F2-6F60-7842-8C0B-9D28A9DF8E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13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Create mock up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43F2-6F60-7842-8C0B-9D28A9DF8E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 = forecast for demand in period I made in period i-1</a:t>
            </a:r>
          </a:p>
          <a:p>
            <a:r>
              <a:rPr lang="en-US" dirty="0"/>
              <a:t>Di = demand in period I </a:t>
            </a:r>
          </a:p>
          <a:p>
            <a:r>
              <a:rPr lang="en-US" dirty="0"/>
              <a:t>LHS is the estimated </a:t>
            </a:r>
            <a:r>
              <a:rPr lang="en-US" dirty="0" err="1"/>
              <a:t>sd</a:t>
            </a:r>
            <a:r>
              <a:rPr lang="en-US" dirty="0"/>
              <a:t> of forecast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43F2-6F60-7842-8C0B-9D28A9DF8E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37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1-a -&gt; </a:t>
            </a:r>
            <a:r>
              <a:rPr lang="en-US" dirty="0" err="1"/>
              <a:t>unfill</a:t>
            </a:r>
            <a:r>
              <a:rPr lang="en-US" dirty="0"/>
              <a:t> rate of 1-sla = beta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243F2-6F60-7842-8C0B-9D28A9DF8E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1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6392-4413-224D-BF8A-7F691BC8E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995DC-7699-D04A-8B52-B224CDEFF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CC526-F745-CB48-AAF0-17E82894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8445-3A58-064C-B57B-A07A6F35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45C6D-B8E1-4D4E-9C1C-AD8D9E7C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9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E67D6-D607-0F42-ADA7-E5331FF2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CD2C-99DD-904B-8AAA-3820CB6C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A940F-4C25-A34B-AF07-2D9F23BB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1252B-E682-6542-BE45-40B46337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1970A-FC62-A447-8BC8-55208D34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7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8CA9-C65E-014A-9D8E-94DB6E6F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84554-41F1-B646-9396-98BAA6F0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79331-D1D0-2C47-8BCE-6F5C0385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D87D2-5D5B-2B49-A914-18AC3B7A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30FA-3C35-0144-BCF6-FE95C10E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2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4F87-C6F8-0140-A6AF-3CA88BB6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EB2AF-BCFB-1B49-B610-7C8F71415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9F7C7-95D3-374C-8BDC-090AB34E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8F4-0FF2-F64A-8ADE-34FF9962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3DBF1-FCF2-6942-88E5-1ADF06D2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EAC78-935F-8746-9C81-733CE470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2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C4F5-7579-4C4D-926F-5C9B6961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D04AD-AE9B-074D-80D1-B80F7EB0A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BA496-03D0-DD4D-8B1C-3A79FFDB5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4D89F-F3BE-7947-92F0-FEB8F954B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03768-5808-CA48-ABD7-E4890DCF5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D9E14-2877-D84B-AC64-7F7AD41F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341D9-1E07-2342-B49E-ACA94B55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5A180-24CA-2343-87A7-090F435F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2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A480-417F-E14D-AFD0-A2F08126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8F82A-BE63-D142-B147-38499B65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C8849-D8AD-0B42-BAD9-23D12737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7730E-C870-DD40-9875-6D1D45AA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2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95D82-FE13-0441-BEDD-5646C778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27B71-3980-7041-AAC7-B89D518C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D049-6B9B-8842-8FE3-80C810FD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B0C0-C44E-E142-91A3-33D15B4C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2D34B-861C-6142-940C-D0848AC60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DE8BA-B54C-1940-90A8-E634418B6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593E7-9D5B-4E49-9827-A12EC10B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38C1C-A649-F34C-BF30-545A84F8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238A5-ED51-B143-AB22-AD967923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5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68F3-8013-2D42-A421-9DAB6892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7F77A-52DC-8342-96E2-DC67B00CB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1B5FF-8B02-0C4E-B19E-252736D3D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65BCC-7075-1D44-916E-86CC46D6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10AC1-B66C-C842-B4EF-19FEBFED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A93A3-5803-5946-A877-18C4A604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3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BAE-8948-1546-8E46-8D8A5801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BB37F-C272-C549-A97C-BB97A4B2F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ED79-119A-7A43-AB72-9041E867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AE8C-F215-9349-BFF0-248F4992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AA570-3D4E-914F-8A08-6AEB25E5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1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75A04-A9AF-714D-B6C9-EFB7DEB15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D7C76-8646-6142-B5F5-D9235F6C6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82DB-8390-5A4D-BB9F-EEBE13F8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413E7-902B-F14F-A407-9D724491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5EF0-4E07-5541-AA36-33991FAA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6B0FB-977E-D54D-89CA-8F71F884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F4690-3303-A041-849A-59E87F5E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7973F-1D5C-C945-898A-44E3FBDD4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ED548-FA04-1345-A731-616DDBB3828F}" type="datetimeFigureOut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3063-6AFD-F745-842A-684A10A38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E888-37C2-9A42-9AC6-758F5375C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BE589-5D10-964F-BF42-0D17660D1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DA3EC-BE83-2F4A-BFF6-4975B1605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5500"/>
              <a:t>Review of : Setting Safety-Stock Targets at Intel in the Presence of Forecast Bias </a:t>
            </a:r>
            <a:br>
              <a:rPr lang="en-US" sz="5500"/>
            </a:br>
            <a:endParaRPr lang="en-US" sz="5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200E9-17E9-874E-9EBB-74EBC0875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Authors : Matthew P. Manary, Sean P. Willems</a:t>
            </a:r>
          </a:p>
          <a:p>
            <a:pPr algn="l"/>
            <a:r>
              <a:rPr lang="en-US"/>
              <a:t>INFORMS Journal (2008)</a:t>
            </a:r>
          </a:p>
        </p:txBody>
      </p:sp>
    </p:spTree>
    <p:extLst>
      <p:ext uri="{BB962C8B-B14F-4D97-AF65-F5344CB8AC3E}">
        <p14:creationId xmlns:p14="http://schemas.microsoft.com/office/powerpoint/2010/main" val="845997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E116E-CEBD-9B4D-A4C0-0855B97E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US" sz="3600" dirty="0"/>
              <a:t>The essence of the paper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66DA-CB6F-C345-A478-E02BAACB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US" sz="2000" dirty="0"/>
              <a:t>What is the problem? : The estimation of safety stock targets is currently inaccurate.</a:t>
            </a:r>
          </a:p>
          <a:p>
            <a:r>
              <a:rPr lang="en-US" sz="2000" dirty="0"/>
              <a:t>In this paper the focus is on addressing the forecasting bias which helps setting the safety stock targets.</a:t>
            </a:r>
          </a:p>
          <a:p>
            <a:r>
              <a:rPr lang="en-US" sz="2000" dirty="0"/>
              <a:t>Extra stock in case sales are greater than planned and/or the supplier is unable to deliver the additional units at the expected time.</a:t>
            </a:r>
          </a:p>
          <a:p>
            <a:r>
              <a:rPr lang="en-US" sz="2000" dirty="0"/>
              <a:t>Safety stock is additional quantity of an item held in the inventory to reduce the risk that the item will be out of stock. </a:t>
            </a:r>
          </a:p>
          <a:p>
            <a:r>
              <a:rPr lang="en-US" sz="2000" dirty="0"/>
              <a:t>Why solve it? – Unoptimized inventory targets leading to SLA misses + unsold inventory =&gt; loss of revenue.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81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50D0B-B35B-9D40-B70D-FC1155CA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State of inventory at Intel before MEIO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9AEB-40B1-C64C-8235-39FB7CBE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 dirty="0"/>
              <a:t>Inconsistency in meeting customer service level targets.</a:t>
            </a:r>
          </a:p>
          <a:p>
            <a:r>
              <a:rPr lang="en-US" sz="2000" dirty="0"/>
              <a:t>Figure depicts the levels before MEIO.</a:t>
            </a:r>
          </a:p>
          <a:p>
            <a:r>
              <a:rPr lang="en-US" sz="2000" dirty="0"/>
              <a:t>Initial models from the newly introduced MEIO tool (2004) produced results for the safety stock targets which were counterintuitive.</a:t>
            </a:r>
          </a:p>
          <a:p>
            <a:r>
              <a:rPr lang="en-US" sz="2000" dirty="0"/>
              <a:t>The model still recommended unnecessarily high inventory levels.</a:t>
            </a:r>
          </a:p>
          <a:p>
            <a:endParaRPr lang="en-US" sz="2000" dirty="0"/>
          </a:p>
          <a:p>
            <a:endParaRPr lang="en-US" sz="2000" dirty="0"/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4FE68BE8-5556-A146-B106-AF132B5E2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20" y="2252111"/>
            <a:ext cx="6253212" cy="342363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739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5F8F9-9DDE-074F-AC1A-358750DBD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/>
              <a:t>Discoveries when the results were examined </a:t>
            </a: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64BD8-8C81-D04D-A2A6-501BD0CB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Sales forecasts which was fed into the MEIO tool exhibited bias.</a:t>
            </a:r>
          </a:p>
          <a:p>
            <a:r>
              <a:rPr lang="en-US" sz="2000" dirty="0"/>
              <a:t>Biased forecasts were loaded as planned demand.</a:t>
            </a:r>
          </a:p>
          <a:p>
            <a:r>
              <a:rPr lang="en-US" sz="2000" dirty="0"/>
              <a:t>MEIO assumed the demand inputs were unbiased.</a:t>
            </a:r>
          </a:p>
          <a:p>
            <a:r>
              <a:rPr lang="en-US" sz="2000" dirty="0"/>
              <a:t>Additionally, </a:t>
            </a:r>
          </a:p>
          <a:p>
            <a:pPr lvl="1"/>
            <a:r>
              <a:rPr lang="en-US" sz="2000" dirty="0"/>
              <a:t>These forecasts were loaded into the MRP system by the Sales &amp; Marketing Team. </a:t>
            </a:r>
          </a:p>
          <a:p>
            <a:pPr lvl="1"/>
            <a:r>
              <a:rPr lang="en-US" sz="2000" dirty="0"/>
              <a:t>This data was immutable.</a:t>
            </a:r>
          </a:p>
          <a:p>
            <a:pPr marL="0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509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0EB3-4840-0645-BF6F-89CCA103E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bias .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1D7C92A-2645-1F4D-8CC5-12649C1F8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48588" y="2666087"/>
            <a:ext cx="1409700" cy="762000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A62EF176-117C-4845-A24A-65A15EBA3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6" y="1323181"/>
            <a:ext cx="5080000" cy="3365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4D14C3-419B-D24D-8932-6034F9E0222C}"/>
              </a:ext>
            </a:extLst>
          </p:cNvPr>
          <p:cNvSpPr txBox="1"/>
          <p:nvPr/>
        </p:nvSpPr>
        <p:spPr>
          <a:xfrm>
            <a:off x="1046162" y="5165487"/>
            <a:ext cx="469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graph indicates over forecasting.</a:t>
            </a:r>
          </a:p>
        </p:txBody>
      </p:sp>
    </p:spTree>
    <p:extLst>
      <p:ext uri="{BB962C8B-B14F-4D97-AF65-F5344CB8AC3E}">
        <p14:creationId xmlns:p14="http://schemas.microsoft.com/office/powerpoint/2010/main" val="246542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9AE9A-C71C-9343-85B8-D7AC01B8C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700"/>
              <a:t>Demand Characterization.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E93A-1726-3E4E-9FFB-7E6919777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1900" dirty="0"/>
              <a:t>Demand was random so safety stock was usually majority of all on-hand inventory.</a:t>
            </a:r>
          </a:p>
          <a:p>
            <a:r>
              <a:rPr lang="en-US" sz="1900" dirty="0"/>
              <a:t>Demand Characterization per period at Intel - &gt; For each SKU, demand is characterized by an average and SD.</a:t>
            </a:r>
          </a:p>
          <a:p>
            <a:r>
              <a:rPr lang="en-US" sz="1900" dirty="0"/>
              <a:t>The base stock inventory at a stage is - &gt;</a:t>
            </a:r>
          </a:p>
          <a:p>
            <a:r>
              <a:rPr lang="en-US" sz="1900" dirty="0"/>
              <a:t>The safety stock at that stage would be -&gt; (2)</a:t>
            </a:r>
          </a:p>
          <a:p>
            <a:r>
              <a:rPr lang="en-US" sz="1900" dirty="0"/>
              <a:t>Approach 1 – used actual historical demand to calculate AVG &amp; SD.</a:t>
            </a:r>
          </a:p>
          <a:p>
            <a:r>
              <a:rPr lang="en-US" sz="1900" dirty="0"/>
              <a:t>Approach 2 – uses forecast and actual historical demand.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96CC86AB-28CA-2E41-80F2-6DB62B2E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528" y="4195813"/>
            <a:ext cx="4389120" cy="1995054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E05A11A-90A5-0040-A972-113E7400F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616" y="3718760"/>
            <a:ext cx="3262934" cy="8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7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95A09-40E0-544B-828F-3FBDBD86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Demand characterization contd..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A2B84E6E-A4AC-5A42-A560-D98706B74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95" y="3501890"/>
            <a:ext cx="5150277" cy="17598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CD09-7933-BF4A-A038-33A6B9FAB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To calculate the AVG and SD, approach 2 was used.</a:t>
            </a:r>
          </a:p>
          <a:p>
            <a:r>
              <a:rPr lang="en-US" sz="2000"/>
              <a:t>Sales forecasts (w bias) help in calculation of the deviation.</a:t>
            </a:r>
          </a:p>
          <a:p>
            <a:r>
              <a:rPr lang="en-US" sz="2000"/>
              <a:t>The MEIO tool/team calculate SDFE for each SKU in the following form : (3)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5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52ED-BFE0-1C4C-A0E8-37A293CD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of the MEIO targets w/o modifying.</a:t>
            </a:r>
          </a:p>
        </p:txBody>
      </p:sp>
      <p:pic>
        <p:nvPicPr>
          <p:cNvPr id="4" name="Content Placeholder 3" descr="Chart, scatter chart&#10;&#10;Description automatically generated">
            <a:extLst>
              <a:ext uri="{FF2B5EF4-FFF2-40B4-BE49-F238E27FC236}">
                <a16:creationId xmlns:a16="http://schemas.microsoft.com/office/drawing/2014/main" id="{C8038E59-2711-554C-861A-8A43104DA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2052" y="1290638"/>
            <a:ext cx="4914900" cy="341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EF6C4-E648-594B-B41B-13620C2B26C2}"/>
              </a:ext>
            </a:extLst>
          </p:cNvPr>
          <p:cNvSpPr txBox="1"/>
          <p:nvPr/>
        </p:nvSpPr>
        <p:spPr>
          <a:xfrm>
            <a:off x="568411" y="1690688"/>
            <a:ext cx="6797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figure shows historical snapshot of one SKU’s forecast accuracy,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the suggested MEIO targets based on SDFE.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Suggestions were more than required to meet under forecasts.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314DC-6CC0-C246-97B2-A01FA42CBBE7}"/>
              </a:ext>
            </a:extLst>
          </p:cNvPr>
          <p:cNvSpPr txBox="1"/>
          <p:nvPr/>
        </p:nvSpPr>
        <p:spPr>
          <a:xfrm>
            <a:off x="481914" y="2891481"/>
            <a:ext cx="67765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validating the model’s structure and other data inputs, </a:t>
            </a:r>
          </a:p>
          <a:p>
            <a:r>
              <a:rPr lang="en-US" dirty="0"/>
              <a:t>we found that the root cause for the unrealistic safety-stock levels was</a:t>
            </a:r>
          </a:p>
          <a:p>
            <a:r>
              <a:rPr lang="en-US" dirty="0"/>
              <a:t> the use of the variables in (2) to set safety-stock targets by using </a:t>
            </a:r>
          </a:p>
          <a:p>
            <a:r>
              <a:rPr lang="en-US" dirty="0"/>
              <a:t>Equation (3) to calculate the SDFE in the presence of forecast bias.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72A96-A8C0-AA4D-9954-3D752497878D}"/>
              </a:ext>
            </a:extLst>
          </p:cNvPr>
          <p:cNvSpPr txBox="1"/>
          <p:nvPr/>
        </p:nvSpPr>
        <p:spPr>
          <a:xfrm>
            <a:off x="481914" y="5189838"/>
            <a:ext cx="6493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Clearly, the forecast bias present in the system had to be addressed.</a:t>
            </a:r>
          </a:p>
        </p:txBody>
      </p:sp>
    </p:spTree>
    <p:extLst>
      <p:ext uri="{BB962C8B-B14F-4D97-AF65-F5344CB8AC3E}">
        <p14:creationId xmlns:p14="http://schemas.microsoft.com/office/powerpoint/2010/main" val="2048197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79973F-5267-3D4C-9240-C7F7ACB4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795527"/>
            <a:ext cx="10488547" cy="1190912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Addressing Bias.	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9678DC06-DC15-9141-B4EE-48290643D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57" y="3487907"/>
            <a:ext cx="4626864" cy="1202984"/>
          </a:xfrm>
          <a:prstGeom prst="rect">
            <a:avLst/>
          </a:prstGeom>
          <a:ln w="12700"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40717-C00A-E14D-9C36-9786E02C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703" y="2228850"/>
            <a:ext cx="5028928" cy="3699669"/>
          </a:xfrm>
        </p:spPr>
        <p:txBody>
          <a:bodyPr anchor="ctr">
            <a:normAutofit/>
          </a:bodyPr>
          <a:lstStyle/>
          <a:p>
            <a:r>
              <a:rPr lang="en-US" sz="1800" dirty="0"/>
              <a:t>They had to remove the impact of the bias without changing mean demand.</a:t>
            </a:r>
          </a:p>
          <a:p>
            <a:r>
              <a:rPr lang="en-US" sz="1800" dirty="0"/>
              <a:t>Modified SDFE calculation.</a:t>
            </a:r>
          </a:p>
        </p:txBody>
      </p:sp>
    </p:spTree>
    <p:extLst>
      <p:ext uri="{BB962C8B-B14F-4D97-AF65-F5344CB8AC3E}">
        <p14:creationId xmlns:p14="http://schemas.microsoft.com/office/powerpoint/2010/main" val="90276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14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AC99F-D93A-A746-9472-8C1D31F3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/>
              <a:t>Testing the modifications.</a:t>
            </a: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BB290-E1BA-8048-8AB2-C21243D3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Comparison with 3 approaches.</a:t>
            </a:r>
          </a:p>
          <a:p>
            <a:r>
              <a:rPr lang="en-US" sz="1700" dirty="0"/>
              <a:t>1</a:t>
            </a:r>
            <a:r>
              <a:rPr lang="en-US" sz="1700" baseline="30000" dirty="0"/>
              <a:t>st</a:t>
            </a:r>
            <a:r>
              <a:rPr lang="en-US" sz="1700" dirty="0"/>
              <a:t> – Removed the systematic bias. (Unfeasible – only used for comparison because it renders unbiased mean) </a:t>
            </a:r>
          </a:p>
          <a:p>
            <a:r>
              <a:rPr lang="en-US" sz="1700" dirty="0"/>
              <a:t>2</a:t>
            </a:r>
            <a:r>
              <a:rPr lang="en-US" sz="1700" baseline="30000" dirty="0"/>
              <a:t>nd</a:t>
            </a:r>
            <a:r>
              <a:rPr lang="en-US" sz="1700" dirty="0"/>
              <a:t> – Uses the modified SDFE in the previous slide.</a:t>
            </a:r>
          </a:p>
          <a:p>
            <a:r>
              <a:rPr lang="en-US" sz="1700" dirty="0"/>
              <a:t>3</a:t>
            </a:r>
            <a:r>
              <a:rPr lang="en-US" sz="1700" baseline="30000" dirty="0"/>
              <a:t>rd</a:t>
            </a:r>
            <a:r>
              <a:rPr lang="en-US" sz="1700" dirty="0"/>
              <a:t> – Ignores forecast bias and used below equation.</a:t>
            </a:r>
          </a:p>
        </p:txBody>
      </p:sp>
      <p:pic>
        <p:nvPicPr>
          <p:cNvPr id="8" name="Picture 7" descr="Chart, surface chart&#10;&#10;Description automatically generated">
            <a:extLst>
              <a:ext uri="{FF2B5EF4-FFF2-40B4-BE49-F238E27FC236}">
                <a16:creationId xmlns:a16="http://schemas.microsoft.com/office/drawing/2014/main" id="{7B195274-DB0E-EA43-B054-3217C71D5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014742"/>
            <a:ext cx="3584448" cy="2822752"/>
          </a:xfrm>
          <a:prstGeom prst="rect">
            <a:avLst/>
          </a:prstGeom>
        </p:spPr>
      </p:pic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A4F2C31-3E06-9C4E-A7FC-4CE7F3F3F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090912"/>
            <a:ext cx="3584448" cy="2670412"/>
          </a:xfrm>
          <a:prstGeom prst="rect">
            <a:avLst/>
          </a:prstGeom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68C1A00A-9F24-7B49-99DA-BDE3C9577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813700"/>
            <a:ext cx="3584448" cy="12248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8CD225-8CBE-F74C-BEB9-040F310464DF}"/>
              </a:ext>
            </a:extLst>
          </p:cNvPr>
          <p:cNvSpPr txBox="1"/>
          <p:nvPr/>
        </p:nvSpPr>
        <p:spPr>
          <a:xfrm>
            <a:off x="1671638" y="6200775"/>
            <a:ext cx="803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/1st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CBDB6C-BA0F-D446-ABF1-1AA2F4ADA722}"/>
              </a:ext>
            </a:extLst>
          </p:cNvPr>
          <p:cNvSpPr txBox="1"/>
          <p:nvPr/>
        </p:nvSpPr>
        <p:spPr>
          <a:xfrm>
            <a:off x="5786438" y="6200775"/>
            <a:ext cx="83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/1st</a:t>
            </a:r>
          </a:p>
        </p:txBody>
      </p:sp>
    </p:spTree>
    <p:extLst>
      <p:ext uri="{BB962C8B-B14F-4D97-AF65-F5344CB8AC3E}">
        <p14:creationId xmlns:p14="http://schemas.microsoft.com/office/powerpoint/2010/main" val="242589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5980B-9743-3345-8D39-2C29D680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Results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05119323-CAB2-F44A-BF29-E7377FD22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55" r="2" b="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02A7A-AF86-A649-B415-89CEEF0E738C}"/>
              </a:ext>
            </a:extLst>
          </p:cNvPr>
          <p:cNvSpPr txBox="1"/>
          <p:nvPr/>
        </p:nvSpPr>
        <p:spPr>
          <a:xfrm>
            <a:off x="7411453" y="2478024"/>
            <a:ext cx="3872243" cy="3694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They obtained 17% reduction in the inventory levels at 95% SLA,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when compared to the management specified levels.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71% reduction in targets produced when compared with the MEIO unmodified version.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5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14EBB-4DA3-5643-AD34-612311DF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Future Work.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629C-C163-294F-B97B-C1D7839EB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If an SKU had more historical data – it meant that there exists more forecasting bias leading to over/under forecasted safety stock targets. They plan to work on just the magnitude of the forecasts in the future.</a:t>
            </a: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71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718</Words>
  <Application>Microsoft Macintosh PowerPoint</Application>
  <PresentationFormat>Widescreen</PresentationFormat>
  <Paragraphs>72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Review of : Setting Safety-Stock Targets at Intel in the Presence of Forecast Bias  </vt:lpstr>
      <vt:lpstr>The essence of the paper</vt:lpstr>
      <vt:lpstr>State of inventory at Intel before MEIO</vt:lpstr>
      <vt:lpstr>Discoveries when the results were examined </vt:lpstr>
      <vt:lpstr>Proof of bias .</vt:lpstr>
      <vt:lpstr>Demand Characterization.</vt:lpstr>
      <vt:lpstr>Demand characterization contd..</vt:lpstr>
      <vt:lpstr>Validation of the MEIO targets w/o modifying.</vt:lpstr>
      <vt:lpstr>Addressing Bias. </vt:lpstr>
      <vt:lpstr>Testing the modifications.</vt:lpstr>
      <vt:lpstr>Results</vt:lpstr>
      <vt:lpstr>Future Work.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: Setting Safety-Stock Targets at Intel in the Presence of Forecast Bias  </dc:title>
  <dc:creator>Sudharshan Bindiganavale Ramesh (RIT Student)</dc:creator>
  <cp:lastModifiedBy>Sudharshan Bindiganavale Ramesh (RIT Student)</cp:lastModifiedBy>
  <cp:revision>3</cp:revision>
  <dcterms:created xsi:type="dcterms:W3CDTF">2022-02-28T18:23:44Z</dcterms:created>
  <dcterms:modified xsi:type="dcterms:W3CDTF">2022-03-01T20:30:29Z</dcterms:modified>
</cp:coreProperties>
</file>