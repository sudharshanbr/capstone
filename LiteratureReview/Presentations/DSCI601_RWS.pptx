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 snapToObjects="1">
      <p:cViewPr varScale="1">
        <p:scale>
          <a:sx n="103" d="100"/>
          <a:sy n="103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DC3054-860C-452E-8979-D2E704DC47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E36622D-AF15-4BB0-9569-8B513CF77B85}">
      <dgm:prSet/>
      <dgm:spPr/>
      <dgm:t>
        <a:bodyPr/>
        <a:lstStyle/>
        <a:p>
          <a:r>
            <a:rPr lang="en-US"/>
            <a:t>Setting inventory target levels are crucial in keeping operational costs to a minimum.</a:t>
          </a:r>
        </a:p>
      </dgm:t>
    </dgm:pt>
    <dgm:pt modelId="{19DE20AD-384C-4B62-9B87-EF13DCC53F4D}" type="parTrans" cxnId="{3DBDF6B2-5819-4902-BD69-5B2AF9D68FEA}">
      <dgm:prSet/>
      <dgm:spPr/>
      <dgm:t>
        <a:bodyPr/>
        <a:lstStyle/>
        <a:p>
          <a:endParaRPr lang="en-US"/>
        </a:p>
      </dgm:t>
    </dgm:pt>
    <dgm:pt modelId="{7EAE93F7-1445-41E1-9D19-EEF69D89850C}" type="sibTrans" cxnId="{3DBDF6B2-5819-4902-BD69-5B2AF9D68FEA}">
      <dgm:prSet/>
      <dgm:spPr/>
      <dgm:t>
        <a:bodyPr/>
        <a:lstStyle/>
        <a:p>
          <a:endParaRPr lang="en-US"/>
        </a:p>
      </dgm:t>
    </dgm:pt>
    <dgm:pt modelId="{0328A28A-5A53-42B2-9039-C5EE321433A1}">
      <dgm:prSet/>
      <dgm:spPr/>
      <dgm:t>
        <a:bodyPr/>
        <a:lstStyle/>
        <a:p>
          <a:r>
            <a:rPr lang="en-US" dirty="0"/>
            <a:t>A robust optimized inventory policy which can effectively mitigate the adverse effects of uncertainty can prove to be vital to any business.</a:t>
          </a:r>
        </a:p>
      </dgm:t>
    </dgm:pt>
    <dgm:pt modelId="{5B235357-BFB1-4D2D-A303-119BEDBC67C4}" type="parTrans" cxnId="{23F337BF-02CA-4D91-889E-12F8A67C10FE}">
      <dgm:prSet/>
      <dgm:spPr/>
      <dgm:t>
        <a:bodyPr/>
        <a:lstStyle/>
        <a:p>
          <a:endParaRPr lang="en-US"/>
        </a:p>
      </dgm:t>
    </dgm:pt>
    <dgm:pt modelId="{E48DF9F0-11A4-4DF3-B7CA-8270D32627F8}" type="sibTrans" cxnId="{23F337BF-02CA-4D91-889E-12F8A67C10FE}">
      <dgm:prSet/>
      <dgm:spPr/>
      <dgm:t>
        <a:bodyPr/>
        <a:lstStyle/>
        <a:p>
          <a:endParaRPr lang="en-US"/>
        </a:p>
      </dgm:t>
    </dgm:pt>
    <dgm:pt modelId="{3CDC8317-A6E8-4EA6-A6D3-A4EDCC75DB5B}">
      <dgm:prSet/>
      <dgm:spPr/>
      <dgm:t>
        <a:bodyPr/>
        <a:lstStyle/>
        <a:p>
          <a:r>
            <a:rPr lang="en-US" dirty="0"/>
            <a:t>Our industrial partner is one such business looking to efficiently manage inventory levels.</a:t>
          </a:r>
        </a:p>
      </dgm:t>
    </dgm:pt>
    <dgm:pt modelId="{ABC20140-1DC3-4249-9EAF-726588377AA0}" type="parTrans" cxnId="{8DD714E7-4B60-41F8-9509-DD2F9F59EB00}">
      <dgm:prSet/>
      <dgm:spPr/>
      <dgm:t>
        <a:bodyPr/>
        <a:lstStyle/>
        <a:p>
          <a:endParaRPr lang="en-US"/>
        </a:p>
      </dgm:t>
    </dgm:pt>
    <dgm:pt modelId="{739A2440-06DF-4D27-8578-5E5ADE35740E}" type="sibTrans" cxnId="{8DD714E7-4B60-41F8-9509-DD2F9F59EB00}">
      <dgm:prSet/>
      <dgm:spPr/>
      <dgm:t>
        <a:bodyPr/>
        <a:lstStyle/>
        <a:p>
          <a:endParaRPr lang="en-US"/>
        </a:p>
      </dgm:t>
    </dgm:pt>
    <dgm:pt modelId="{A20C48FD-9484-4796-BC16-7707ED6DFA8D}">
      <dgm:prSet/>
      <dgm:spPr/>
      <dgm:t>
        <a:bodyPr/>
        <a:lstStyle/>
        <a:p>
          <a:r>
            <a:rPr lang="en-US"/>
            <a:t>Demand forecasting, estimation of safety stock levels, order-up-to levels are few of the problems which are common in working towards a fully optimized inventory policy.</a:t>
          </a:r>
        </a:p>
      </dgm:t>
    </dgm:pt>
    <dgm:pt modelId="{B2DBCE6A-49CD-4497-9647-2140B405D81B}" type="parTrans" cxnId="{56746CAA-7A98-4E5D-A3D4-D8A52671CA2E}">
      <dgm:prSet/>
      <dgm:spPr/>
      <dgm:t>
        <a:bodyPr/>
        <a:lstStyle/>
        <a:p>
          <a:endParaRPr lang="en-US"/>
        </a:p>
      </dgm:t>
    </dgm:pt>
    <dgm:pt modelId="{CE3B6CE3-B1D6-407E-9420-604B6B26B48B}" type="sibTrans" cxnId="{56746CAA-7A98-4E5D-A3D4-D8A52671CA2E}">
      <dgm:prSet/>
      <dgm:spPr/>
      <dgm:t>
        <a:bodyPr/>
        <a:lstStyle/>
        <a:p>
          <a:endParaRPr lang="en-US"/>
        </a:p>
      </dgm:t>
    </dgm:pt>
    <dgm:pt modelId="{DD527342-5A38-4E26-89D6-16A21EC3579F}" type="pres">
      <dgm:prSet presAssocID="{1FDC3054-860C-452E-8979-D2E704DC47E6}" presName="root" presStyleCnt="0">
        <dgm:presLayoutVars>
          <dgm:dir/>
          <dgm:resizeHandles val="exact"/>
        </dgm:presLayoutVars>
      </dgm:prSet>
      <dgm:spPr/>
    </dgm:pt>
    <dgm:pt modelId="{F99EFBDC-F01E-44E2-BBE7-7B4DFCDCF168}" type="pres">
      <dgm:prSet presAssocID="{9E36622D-AF15-4BB0-9569-8B513CF77B85}" presName="compNode" presStyleCnt="0"/>
      <dgm:spPr/>
    </dgm:pt>
    <dgm:pt modelId="{B268AA1B-9835-4E61-9632-24F2A244E797}" type="pres">
      <dgm:prSet presAssocID="{9E36622D-AF15-4BB0-9569-8B513CF77B85}" presName="bgRect" presStyleLbl="bgShp" presStyleIdx="0" presStyleCnt="4"/>
      <dgm:spPr/>
    </dgm:pt>
    <dgm:pt modelId="{657EAF71-C2CD-4B30-B33F-BA9F048643B5}" type="pres">
      <dgm:prSet presAssocID="{9E36622D-AF15-4BB0-9569-8B513CF77B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755B1D3-E52A-4469-A3BC-71128736D32E}" type="pres">
      <dgm:prSet presAssocID="{9E36622D-AF15-4BB0-9569-8B513CF77B85}" presName="spaceRect" presStyleCnt="0"/>
      <dgm:spPr/>
    </dgm:pt>
    <dgm:pt modelId="{15981B64-B244-49CC-9AC8-9B73CD9FC547}" type="pres">
      <dgm:prSet presAssocID="{9E36622D-AF15-4BB0-9569-8B513CF77B85}" presName="parTx" presStyleLbl="revTx" presStyleIdx="0" presStyleCnt="4">
        <dgm:presLayoutVars>
          <dgm:chMax val="0"/>
          <dgm:chPref val="0"/>
        </dgm:presLayoutVars>
      </dgm:prSet>
      <dgm:spPr/>
    </dgm:pt>
    <dgm:pt modelId="{BE8A9FA5-271C-41D2-B3EB-DF04FD8E767C}" type="pres">
      <dgm:prSet presAssocID="{7EAE93F7-1445-41E1-9D19-EEF69D89850C}" presName="sibTrans" presStyleCnt="0"/>
      <dgm:spPr/>
    </dgm:pt>
    <dgm:pt modelId="{D6BE0E72-CF85-48D9-A29E-8089B59003E0}" type="pres">
      <dgm:prSet presAssocID="{0328A28A-5A53-42B2-9039-C5EE321433A1}" presName="compNode" presStyleCnt="0"/>
      <dgm:spPr/>
    </dgm:pt>
    <dgm:pt modelId="{02BE8D64-7330-4466-A363-FB3D4656FF7F}" type="pres">
      <dgm:prSet presAssocID="{0328A28A-5A53-42B2-9039-C5EE321433A1}" presName="bgRect" presStyleLbl="bgShp" presStyleIdx="1" presStyleCnt="4"/>
      <dgm:spPr/>
    </dgm:pt>
    <dgm:pt modelId="{C879C20F-EEEF-44FE-B8EE-AEFC67653D54}" type="pres">
      <dgm:prSet presAssocID="{0328A28A-5A53-42B2-9039-C5EE321433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1685A22F-70BF-4DFA-8E58-2D1FBF262115}" type="pres">
      <dgm:prSet presAssocID="{0328A28A-5A53-42B2-9039-C5EE321433A1}" presName="spaceRect" presStyleCnt="0"/>
      <dgm:spPr/>
    </dgm:pt>
    <dgm:pt modelId="{CCE20952-3D32-49FC-BA81-2B60671E3980}" type="pres">
      <dgm:prSet presAssocID="{0328A28A-5A53-42B2-9039-C5EE321433A1}" presName="parTx" presStyleLbl="revTx" presStyleIdx="1" presStyleCnt="4">
        <dgm:presLayoutVars>
          <dgm:chMax val="0"/>
          <dgm:chPref val="0"/>
        </dgm:presLayoutVars>
      </dgm:prSet>
      <dgm:spPr/>
    </dgm:pt>
    <dgm:pt modelId="{ADC10BE0-879D-4B70-8648-DF8243B17344}" type="pres">
      <dgm:prSet presAssocID="{E48DF9F0-11A4-4DF3-B7CA-8270D32627F8}" presName="sibTrans" presStyleCnt="0"/>
      <dgm:spPr/>
    </dgm:pt>
    <dgm:pt modelId="{0DD39395-B9CA-49F6-9EFD-A52C4D36EDA2}" type="pres">
      <dgm:prSet presAssocID="{3CDC8317-A6E8-4EA6-A6D3-A4EDCC75DB5B}" presName="compNode" presStyleCnt="0"/>
      <dgm:spPr/>
    </dgm:pt>
    <dgm:pt modelId="{4ECD6554-51BF-42DD-A13C-4DA749A0D0DD}" type="pres">
      <dgm:prSet presAssocID="{3CDC8317-A6E8-4EA6-A6D3-A4EDCC75DB5B}" presName="bgRect" presStyleLbl="bgShp" presStyleIdx="2" presStyleCnt="4"/>
      <dgm:spPr/>
    </dgm:pt>
    <dgm:pt modelId="{377A0B3D-AFE2-4745-8CC8-10DC45C5B8EB}" type="pres">
      <dgm:prSet presAssocID="{3CDC8317-A6E8-4EA6-A6D3-A4EDCC75DB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9775F020-0D5B-405C-A46E-98C441770305}" type="pres">
      <dgm:prSet presAssocID="{3CDC8317-A6E8-4EA6-A6D3-A4EDCC75DB5B}" presName="spaceRect" presStyleCnt="0"/>
      <dgm:spPr/>
    </dgm:pt>
    <dgm:pt modelId="{AA84D65A-A700-4C69-8539-E53B9DEDD346}" type="pres">
      <dgm:prSet presAssocID="{3CDC8317-A6E8-4EA6-A6D3-A4EDCC75DB5B}" presName="parTx" presStyleLbl="revTx" presStyleIdx="2" presStyleCnt="4">
        <dgm:presLayoutVars>
          <dgm:chMax val="0"/>
          <dgm:chPref val="0"/>
        </dgm:presLayoutVars>
      </dgm:prSet>
      <dgm:spPr/>
    </dgm:pt>
    <dgm:pt modelId="{5B176FF2-A2AC-4C0A-A827-6D424223269D}" type="pres">
      <dgm:prSet presAssocID="{739A2440-06DF-4D27-8578-5E5ADE35740E}" presName="sibTrans" presStyleCnt="0"/>
      <dgm:spPr/>
    </dgm:pt>
    <dgm:pt modelId="{7A07C343-6347-4A49-87DC-26DF5FBFEA07}" type="pres">
      <dgm:prSet presAssocID="{A20C48FD-9484-4796-BC16-7707ED6DFA8D}" presName="compNode" presStyleCnt="0"/>
      <dgm:spPr/>
    </dgm:pt>
    <dgm:pt modelId="{1ABCDE81-A6DD-4A9B-A09D-05C3EF556515}" type="pres">
      <dgm:prSet presAssocID="{A20C48FD-9484-4796-BC16-7707ED6DFA8D}" presName="bgRect" presStyleLbl="bgShp" presStyleIdx="3" presStyleCnt="4"/>
      <dgm:spPr/>
    </dgm:pt>
    <dgm:pt modelId="{E1AF42D8-0ACD-4B93-B717-8CBD687D548D}" type="pres">
      <dgm:prSet presAssocID="{A20C48FD-9484-4796-BC16-7707ED6DFA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67D04049-E1C1-4428-9ED5-3CB2B4200622}" type="pres">
      <dgm:prSet presAssocID="{A20C48FD-9484-4796-BC16-7707ED6DFA8D}" presName="spaceRect" presStyleCnt="0"/>
      <dgm:spPr/>
    </dgm:pt>
    <dgm:pt modelId="{58ADBE56-342D-4CA5-966E-43E9E9B0BD2F}" type="pres">
      <dgm:prSet presAssocID="{A20C48FD-9484-4796-BC16-7707ED6DFA8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A43504-1B98-456A-BB63-112082CC1F86}" type="presOf" srcId="{A20C48FD-9484-4796-BC16-7707ED6DFA8D}" destId="{58ADBE56-342D-4CA5-966E-43E9E9B0BD2F}" srcOrd="0" destOrd="0" presId="urn:microsoft.com/office/officeart/2018/2/layout/IconVerticalSolidList"/>
    <dgm:cxn modelId="{83921A1B-3001-41B7-AA05-CE4EA84E9679}" type="presOf" srcId="{3CDC8317-A6E8-4EA6-A6D3-A4EDCC75DB5B}" destId="{AA84D65A-A700-4C69-8539-E53B9DEDD346}" srcOrd="0" destOrd="0" presId="urn:microsoft.com/office/officeart/2018/2/layout/IconVerticalSolidList"/>
    <dgm:cxn modelId="{A2B62A4F-E5B4-4766-AFF6-C2F751A2718F}" type="presOf" srcId="{9E36622D-AF15-4BB0-9569-8B513CF77B85}" destId="{15981B64-B244-49CC-9AC8-9B73CD9FC547}" srcOrd="0" destOrd="0" presId="urn:microsoft.com/office/officeart/2018/2/layout/IconVerticalSolidList"/>
    <dgm:cxn modelId="{4212A399-B933-4B81-AA5B-4DA5294D3E08}" type="presOf" srcId="{1FDC3054-860C-452E-8979-D2E704DC47E6}" destId="{DD527342-5A38-4E26-89D6-16A21EC3579F}" srcOrd="0" destOrd="0" presId="urn:microsoft.com/office/officeart/2018/2/layout/IconVerticalSolidList"/>
    <dgm:cxn modelId="{56746CAA-7A98-4E5D-A3D4-D8A52671CA2E}" srcId="{1FDC3054-860C-452E-8979-D2E704DC47E6}" destId="{A20C48FD-9484-4796-BC16-7707ED6DFA8D}" srcOrd="3" destOrd="0" parTransId="{B2DBCE6A-49CD-4497-9647-2140B405D81B}" sibTransId="{CE3B6CE3-B1D6-407E-9420-604B6B26B48B}"/>
    <dgm:cxn modelId="{F496AAB1-991C-4EDC-9309-3651E68508F2}" type="presOf" srcId="{0328A28A-5A53-42B2-9039-C5EE321433A1}" destId="{CCE20952-3D32-49FC-BA81-2B60671E3980}" srcOrd="0" destOrd="0" presId="urn:microsoft.com/office/officeart/2018/2/layout/IconVerticalSolidList"/>
    <dgm:cxn modelId="{3DBDF6B2-5819-4902-BD69-5B2AF9D68FEA}" srcId="{1FDC3054-860C-452E-8979-D2E704DC47E6}" destId="{9E36622D-AF15-4BB0-9569-8B513CF77B85}" srcOrd="0" destOrd="0" parTransId="{19DE20AD-384C-4B62-9B87-EF13DCC53F4D}" sibTransId="{7EAE93F7-1445-41E1-9D19-EEF69D89850C}"/>
    <dgm:cxn modelId="{23F337BF-02CA-4D91-889E-12F8A67C10FE}" srcId="{1FDC3054-860C-452E-8979-D2E704DC47E6}" destId="{0328A28A-5A53-42B2-9039-C5EE321433A1}" srcOrd="1" destOrd="0" parTransId="{5B235357-BFB1-4D2D-A303-119BEDBC67C4}" sibTransId="{E48DF9F0-11A4-4DF3-B7CA-8270D32627F8}"/>
    <dgm:cxn modelId="{8DD714E7-4B60-41F8-9509-DD2F9F59EB00}" srcId="{1FDC3054-860C-452E-8979-D2E704DC47E6}" destId="{3CDC8317-A6E8-4EA6-A6D3-A4EDCC75DB5B}" srcOrd="2" destOrd="0" parTransId="{ABC20140-1DC3-4249-9EAF-726588377AA0}" sibTransId="{739A2440-06DF-4D27-8578-5E5ADE35740E}"/>
    <dgm:cxn modelId="{EC9814E9-0146-4FEB-8767-A7EDAA673185}" type="presParOf" srcId="{DD527342-5A38-4E26-89D6-16A21EC3579F}" destId="{F99EFBDC-F01E-44E2-BBE7-7B4DFCDCF168}" srcOrd="0" destOrd="0" presId="urn:microsoft.com/office/officeart/2018/2/layout/IconVerticalSolidList"/>
    <dgm:cxn modelId="{5BE07AF8-FB94-4E62-BC5D-F2700F5C2F5F}" type="presParOf" srcId="{F99EFBDC-F01E-44E2-BBE7-7B4DFCDCF168}" destId="{B268AA1B-9835-4E61-9632-24F2A244E797}" srcOrd="0" destOrd="0" presId="urn:microsoft.com/office/officeart/2018/2/layout/IconVerticalSolidList"/>
    <dgm:cxn modelId="{38564DD2-3732-48FB-A093-07D95CCE85B4}" type="presParOf" srcId="{F99EFBDC-F01E-44E2-BBE7-7B4DFCDCF168}" destId="{657EAF71-C2CD-4B30-B33F-BA9F048643B5}" srcOrd="1" destOrd="0" presId="urn:microsoft.com/office/officeart/2018/2/layout/IconVerticalSolidList"/>
    <dgm:cxn modelId="{CE6138EB-70D7-40F9-AA17-70EEAE191BDB}" type="presParOf" srcId="{F99EFBDC-F01E-44E2-BBE7-7B4DFCDCF168}" destId="{4755B1D3-E52A-4469-A3BC-71128736D32E}" srcOrd="2" destOrd="0" presId="urn:microsoft.com/office/officeart/2018/2/layout/IconVerticalSolidList"/>
    <dgm:cxn modelId="{1B8E42D0-026C-46AC-8674-42AC69B4FBFA}" type="presParOf" srcId="{F99EFBDC-F01E-44E2-BBE7-7B4DFCDCF168}" destId="{15981B64-B244-49CC-9AC8-9B73CD9FC547}" srcOrd="3" destOrd="0" presId="urn:microsoft.com/office/officeart/2018/2/layout/IconVerticalSolidList"/>
    <dgm:cxn modelId="{3040DB76-050D-412A-BA13-658512F1E6EE}" type="presParOf" srcId="{DD527342-5A38-4E26-89D6-16A21EC3579F}" destId="{BE8A9FA5-271C-41D2-B3EB-DF04FD8E767C}" srcOrd="1" destOrd="0" presId="urn:microsoft.com/office/officeart/2018/2/layout/IconVerticalSolidList"/>
    <dgm:cxn modelId="{AF00E9DE-7E03-4DEC-9A46-AAB6ACD37150}" type="presParOf" srcId="{DD527342-5A38-4E26-89D6-16A21EC3579F}" destId="{D6BE0E72-CF85-48D9-A29E-8089B59003E0}" srcOrd="2" destOrd="0" presId="urn:microsoft.com/office/officeart/2018/2/layout/IconVerticalSolidList"/>
    <dgm:cxn modelId="{1F2F923A-59A0-48B0-B8FB-C2DEABC5D5D2}" type="presParOf" srcId="{D6BE0E72-CF85-48D9-A29E-8089B59003E0}" destId="{02BE8D64-7330-4466-A363-FB3D4656FF7F}" srcOrd="0" destOrd="0" presId="urn:microsoft.com/office/officeart/2018/2/layout/IconVerticalSolidList"/>
    <dgm:cxn modelId="{CDFFE7B9-738B-4DDD-9A1E-A005ECDAEA2C}" type="presParOf" srcId="{D6BE0E72-CF85-48D9-A29E-8089B59003E0}" destId="{C879C20F-EEEF-44FE-B8EE-AEFC67653D54}" srcOrd="1" destOrd="0" presId="urn:microsoft.com/office/officeart/2018/2/layout/IconVerticalSolidList"/>
    <dgm:cxn modelId="{E8E1315F-3261-4EFA-9863-50FFF831F40B}" type="presParOf" srcId="{D6BE0E72-CF85-48D9-A29E-8089B59003E0}" destId="{1685A22F-70BF-4DFA-8E58-2D1FBF262115}" srcOrd="2" destOrd="0" presId="urn:microsoft.com/office/officeart/2018/2/layout/IconVerticalSolidList"/>
    <dgm:cxn modelId="{17A604E2-3C52-4BB3-91EE-059F79E61862}" type="presParOf" srcId="{D6BE0E72-CF85-48D9-A29E-8089B59003E0}" destId="{CCE20952-3D32-49FC-BA81-2B60671E3980}" srcOrd="3" destOrd="0" presId="urn:microsoft.com/office/officeart/2018/2/layout/IconVerticalSolidList"/>
    <dgm:cxn modelId="{91C442B6-F842-41E0-BD74-855D7CF9FEFC}" type="presParOf" srcId="{DD527342-5A38-4E26-89D6-16A21EC3579F}" destId="{ADC10BE0-879D-4B70-8648-DF8243B17344}" srcOrd="3" destOrd="0" presId="urn:microsoft.com/office/officeart/2018/2/layout/IconVerticalSolidList"/>
    <dgm:cxn modelId="{0BAD10AF-1DD9-4889-AB59-12F3E3812378}" type="presParOf" srcId="{DD527342-5A38-4E26-89D6-16A21EC3579F}" destId="{0DD39395-B9CA-49F6-9EFD-A52C4D36EDA2}" srcOrd="4" destOrd="0" presId="urn:microsoft.com/office/officeart/2018/2/layout/IconVerticalSolidList"/>
    <dgm:cxn modelId="{61919221-EE89-4DE0-94E8-8356D1B71EC5}" type="presParOf" srcId="{0DD39395-B9CA-49F6-9EFD-A52C4D36EDA2}" destId="{4ECD6554-51BF-42DD-A13C-4DA749A0D0DD}" srcOrd="0" destOrd="0" presId="urn:microsoft.com/office/officeart/2018/2/layout/IconVerticalSolidList"/>
    <dgm:cxn modelId="{E08BA1B4-93C6-42BD-949F-F61FE83D677E}" type="presParOf" srcId="{0DD39395-B9CA-49F6-9EFD-A52C4D36EDA2}" destId="{377A0B3D-AFE2-4745-8CC8-10DC45C5B8EB}" srcOrd="1" destOrd="0" presId="urn:microsoft.com/office/officeart/2018/2/layout/IconVerticalSolidList"/>
    <dgm:cxn modelId="{76AEAB00-FDB0-40BD-BD87-5A6D992B74A5}" type="presParOf" srcId="{0DD39395-B9CA-49F6-9EFD-A52C4D36EDA2}" destId="{9775F020-0D5B-405C-A46E-98C441770305}" srcOrd="2" destOrd="0" presId="urn:microsoft.com/office/officeart/2018/2/layout/IconVerticalSolidList"/>
    <dgm:cxn modelId="{9DD4F90B-E336-4D6E-8A49-8892D181DEB6}" type="presParOf" srcId="{0DD39395-B9CA-49F6-9EFD-A52C4D36EDA2}" destId="{AA84D65A-A700-4C69-8539-E53B9DEDD346}" srcOrd="3" destOrd="0" presId="urn:microsoft.com/office/officeart/2018/2/layout/IconVerticalSolidList"/>
    <dgm:cxn modelId="{CD5124B2-7AC7-46B3-B6AE-9F17E308225C}" type="presParOf" srcId="{DD527342-5A38-4E26-89D6-16A21EC3579F}" destId="{5B176FF2-A2AC-4C0A-A827-6D424223269D}" srcOrd="5" destOrd="0" presId="urn:microsoft.com/office/officeart/2018/2/layout/IconVerticalSolidList"/>
    <dgm:cxn modelId="{8340204D-443F-445C-B080-6EAAFC6593EF}" type="presParOf" srcId="{DD527342-5A38-4E26-89D6-16A21EC3579F}" destId="{7A07C343-6347-4A49-87DC-26DF5FBFEA07}" srcOrd="6" destOrd="0" presId="urn:microsoft.com/office/officeart/2018/2/layout/IconVerticalSolidList"/>
    <dgm:cxn modelId="{20A879E5-0959-401D-B53B-BAE94927DCB3}" type="presParOf" srcId="{7A07C343-6347-4A49-87DC-26DF5FBFEA07}" destId="{1ABCDE81-A6DD-4A9B-A09D-05C3EF556515}" srcOrd="0" destOrd="0" presId="urn:microsoft.com/office/officeart/2018/2/layout/IconVerticalSolidList"/>
    <dgm:cxn modelId="{2D1FE9F6-5E6A-4DD4-B1C9-A55D393CC049}" type="presParOf" srcId="{7A07C343-6347-4A49-87DC-26DF5FBFEA07}" destId="{E1AF42D8-0ACD-4B93-B717-8CBD687D548D}" srcOrd="1" destOrd="0" presId="urn:microsoft.com/office/officeart/2018/2/layout/IconVerticalSolidList"/>
    <dgm:cxn modelId="{ECFC90E3-9580-4E60-BC7C-2C9FB0797BCA}" type="presParOf" srcId="{7A07C343-6347-4A49-87DC-26DF5FBFEA07}" destId="{67D04049-E1C1-4428-9ED5-3CB2B4200622}" srcOrd="2" destOrd="0" presId="urn:microsoft.com/office/officeart/2018/2/layout/IconVerticalSolidList"/>
    <dgm:cxn modelId="{2B3D1724-1503-4542-B7A0-1C872972D8AE}" type="presParOf" srcId="{7A07C343-6347-4A49-87DC-26DF5FBFEA07}" destId="{58ADBE56-342D-4CA5-966E-43E9E9B0BD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8AA1B-9835-4E61-9632-24F2A244E797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EAF71-C2CD-4B30-B33F-BA9F048643B5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81B64-B244-49CC-9AC8-9B73CD9FC547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Setting inventory target levels are crucial in keeping operational costs to a minimum.</a:t>
          </a:r>
        </a:p>
      </dsp:txBody>
      <dsp:txXfrm>
        <a:off x="1058686" y="1808"/>
        <a:ext cx="9456913" cy="916611"/>
      </dsp:txXfrm>
    </dsp:sp>
    <dsp:sp modelId="{02BE8D64-7330-4466-A363-FB3D4656FF7F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9C20F-EEEF-44FE-B8EE-AEFC67653D54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20952-3D32-49FC-BA81-2B60671E3980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robust optimized inventory policy which can effectively mitigate the adverse effects of uncertainty can prove to be vital to any business.</a:t>
          </a:r>
        </a:p>
      </dsp:txBody>
      <dsp:txXfrm>
        <a:off x="1058686" y="1147573"/>
        <a:ext cx="9456913" cy="916611"/>
      </dsp:txXfrm>
    </dsp:sp>
    <dsp:sp modelId="{4ECD6554-51BF-42DD-A13C-4DA749A0D0DD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A0B3D-AFE2-4745-8CC8-10DC45C5B8EB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4D65A-A700-4C69-8539-E53B9DEDD346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Our industrial partner is one such business looking to efficiently manage inventory levels.</a:t>
          </a:r>
        </a:p>
      </dsp:txBody>
      <dsp:txXfrm>
        <a:off x="1058686" y="2293338"/>
        <a:ext cx="9456913" cy="916611"/>
      </dsp:txXfrm>
    </dsp:sp>
    <dsp:sp modelId="{1ABCDE81-A6DD-4A9B-A09D-05C3EF556515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F42D8-0ACD-4B93-B717-8CBD687D548D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DBE56-342D-4CA5-966E-43E9E9B0BD2F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Demand forecasting, estimation of safety stock levels, order-up-to levels are few of the problems which are common in working towards a fully optimized inventory policy.</a:t>
          </a:r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9F36-DE37-7E46-B71E-4B8AB9BEE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00564-ED14-ED4C-AA70-59BB04C19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DEA6D-536D-AE4D-A48D-7E3ADB28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C898B-464F-EA44-9070-939C08DC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5CFDE-0FE0-C249-B8E8-119E1A29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4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A578-91C2-814D-90A6-26DFF787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CDCA-213D-FA42-9102-53F1F1E33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2FF2D-E71C-AF44-AEC7-674DC552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9066E-4E6D-244A-96BF-3905CD42D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17544-DAB8-7240-98F9-3CD91566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1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A9AF-A57E-A84B-A3F6-3698FC18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9B6B0-F2DC-ED45-AA15-071043D29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4980B-7E15-CC45-AEC5-7D2A8BEF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7B317-95E0-8947-B4C1-D3C96FAB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8EA91-731F-8D44-BC9D-F1FA9754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9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D5BF-3CE2-5A43-BD24-C85A9DF0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3F19-DCD5-4E42-8099-D02C1E61D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E01F9-2412-B746-A82E-3CA3C5D6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0780B-9D00-FB4D-A5CD-BA6728B6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CCF80-0401-8147-AE5F-061B49C2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68AA3-5FCA-D646-8DDB-62FCE2F7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2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D9E7-21B4-7C43-93C2-48DFA177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51A15-DA89-F54C-AFA4-B0ECA6C5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23510-90EE-614E-8DCE-B206B33CF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BE866-9F68-FA46-B0F1-12E5CE752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359121-9748-4F4F-9FBC-F771CC857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7CC4D5-276B-F548-9663-D94073B7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1C13B-8328-314E-99F4-5165D066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416BD-45F6-CF4C-8616-420DC0B7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9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071D-FFD7-2F4A-9E9E-E99A1730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AB8FF-57F4-DA4C-8E19-436DE79F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794AB-305D-0A40-9C05-8F87D580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F71BA-07CD-034F-8565-0E51B116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5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938C1-2642-DA4F-8ACA-7EFB586A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21C63-C4B8-EF46-9B6F-0DB54AD4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185E1-1522-1841-9C7E-39EC9CD9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2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986E-1E64-1B4B-B99A-3E965847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60835-4D90-AB41-ADB3-D9B852298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E29F2-D10C-0740-97D8-4980CD7DB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3C301-2CBE-F845-8812-BE9BEEE8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2356C-8F36-4647-92C5-C9ECCB72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5496C-71C5-8842-B589-396B924FB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9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8520-8D8A-334C-8C72-A9E12A3A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94C49-D3EB-FA42-9A3F-6CA43CFE6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2AA7B-EBC4-1C40-AD2C-2D1AC177E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15051-0035-3446-BEC6-F810CF39E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76EF9-38D5-E143-8944-6954F507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75379-4620-9A41-94D4-B55D427C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76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DBC6-CDD2-6040-8589-73B5D719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C40C9-2A26-1E43-A386-BB893BEF3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114B-3617-4649-88A9-311B8D58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B0D43-AF88-E14F-A869-6E808D43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A220C-8D4C-FC4F-98CF-4D86FFC4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0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AC741-BD89-B94E-91F2-8C0034640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6C9D7-9FB1-164B-A64B-8AAA22FA6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5979D-3AD7-7641-A14D-EA0D834FA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16BE4-D6BE-7743-932E-2C3CE0AB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A07A0-E994-B746-ADF2-2F27AAFC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1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8A99C0-6611-D343-A12E-E0F16294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3720-694F-3247-B9D0-4F5218858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763AF-3A14-B94B-910F-89AC71EDF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1D324-7409-8A43-A8D3-EC60E2C6B862}" type="datetimeFigureOut">
              <a:rPr lang="en-US" smtClean="0"/>
              <a:t>3/4/22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95893-FC52-814E-93A6-B935D3D04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0F17-7F79-F443-B236-DB726ECEA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04277-172F-4F4C-A4D6-3BCD5921B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5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xnasp@rit.edu" TargetMode="External"/><Relationship Id="rId2" Type="http://schemas.openxmlformats.org/officeDocument/2006/relationships/hyperlink" Target="mailto:sb1501@rit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CF0A4-AE30-9049-83A8-200E14493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of a data-driven approach for understanding discrepancies between design and implementation of inventory policies.</a:t>
            </a:r>
            <a:b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31D35-27E0-2845-A657-2FEC19062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dirty="0"/>
              <a:t>Related Work Survey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Sudharshan</a:t>
            </a:r>
            <a:r>
              <a:rPr lang="en-US" sz="2200" dirty="0"/>
              <a:t> BR – </a:t>
            </a:r>
            <a:r>
              <a:rPr lang="en-US" sz="2200" dirty="0">
                <a:hlinkClick r:id="rId2"/>
              </a:rPr>
              <a:t>sb1501@rit.edu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/>
              <a:t>Dr.Nenad</a:t>
            </a:r>
            <a:r>
              <a:rPr lang="en-US" sz="2200" dirty="0"/>
              <a:t> </a:t>
            </a:r>
            <a:r>
              <a:rPr lang="en-US" sz="2200" dirty="0" err="1"/>
              <a:t>Nenadic</a:t>
            </a:r>
            <a:r>
              <a:rPr lang="en-US" sz="2200" dirty="0"/>
              <a:t> – </a:t>
            </a:r>
            <a:r>
              <a:rPr lang="en-US" sz="2200" dirty="0">
                <a:hlinkClick r:id="rId3"/>
              </a:rPr>
              <a:t>nxnasp@rit.edu</a:t>
            </a: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6734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EDD3-043D-4346-B752-7133E55B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Introduction + Background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3B2616-3645-428C-BAF1-B63C2C7FB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51907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7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390C2-7CF2-214A-91F2-B98217E2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Summary of Related Works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089A-FE6D-E748-8165-7924716D0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Bayesian inference techniques coupled with simulators were observed to be a significant strategy in establishing inventory policies which were optimal [1].</a:t>
            </a:r>
          </a:p>
          <a:p>
            <a:r>
              <a:rPr lang="en-US" sz="2200"/>
              <a:t>Papers [2,3,4] inform us about the challenges faced by the Planning Organization team at Intel when they work on solving inventory policy problems.</a:t>
            </a:r>
          </a:p>
          <a:p>
            <a:r>
              <a:rPr lang="en-US" sz="2200"/>
              <a:t>Deep Neural Network based approaches are effective in predicting inventory target levels. [5]</a:t>
            </a:r>
          </a:p>
          <a:p>
            <a:r>
              <a:rPr lang="en-US" sz="2200"/>
              <a:t>We also learn about the impacts of kernel density approximation techniques being utilized where the forecast errors were non-parametric in nature. [3,6].</a:t>
            </a:r>
          </a:p>
          <a:p>
            <a:r>
              <a:rPr lang="en-US" sz="2200"/>
              <a:t>The use of several exponential smoothing methods were also experimented on (r,Q) and (s,S) inventory policies.[7]</a:t>
            </a:r>
          </a:p>
        </p:txBody>
      </p:sp>
    </p:spTree>
    <p:extLst>
      <p:ext uri="{BB962C8B-B14F-4D97-AF65-F5344CB8AC3E}">
        <p14:creationId xmlns:p14="http://schemas.microsoft.com/office/powerpoint/2010/main" val="4145652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B4C48-9FDA-1143-A9BE-247469D9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Our work with the industrial partner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077F-DC96-1F4C-A3DA-9252ADB1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2200"/>
              <a:t>Our aim is to first learn about the reasons for deviations from the designed polices in practice.</a:t>
            </a:r>
          </a:p>
          <a:p>
            <a:r>
              <a:rPr lang="en-US" sz="2200"/>
              <a:t>We will then formulate these deviations by conducting hypothesis testing and implement Bayesian inference techniques in order to build prediction models which accurately represent the real-world situation.</a:t>
            </a:r>
          </a:p>
          <a:p>
            <a:r>
              <a:rPr lang="en-US" sz="2200"/>
              <a:t>The proposed work focuses on developing an intelligent framework which enables interpretable inferences which are in turn required to develop mechanisms to harmonize them.</a:t>
            </a:r>
          </a:p>
        </p:txBody>
      </p:sp>
    </p:spTree>
    <p:extLst>
      <p:ext uri="{BB962C8B-B14F-4D97-AF65-F5344CB8AC3E}">
        <p14:creationId xmlns:p14="http://schemas.microsoft.com/office/powerpoint/2010/main" val="352721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991BC-9C0A-C043-8993-05A08EEE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942B-2391-2F47-BB8F-5A5740EAC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500" err="1"/>
              <a:t>Atsuki</a:t>
            </a:r>
            <a:r>
              <a:rPr lang="en-US" sz="1500"/>
              <a:t> </a:t>
            </a:r>
            <a:r>
              <a:rPr lang="en-US" sz="1500" err="1"/>
              <a:t>Kiuchi</a:t>
            </a:r>
            <a:r>
              <a:rPr lang="en-US" sz="1500"/>
              <a:t>, Haiyan Wang, </a:t>
            </a:r>
            <a:r>
              <a:rPr lang="en-US" sz="1500" err="1"/>
              <a:t>Qiyao</a:t>
            </a:r>
            <a:r>
              <a:rPr lang="en-US" sz="1500"/>
              <a:t> Wang, Takahiro Ogura, </a:t>
            </a:r>
            <a:r>
              <a:rPr lang="en-US" sz="1500" err="1"/>
              <a:t>Tazu</a:t>
            </a:r>
            <a:r>
              <a:rPr lang="en-US" sz="1500"/>
              <a:t> </a:t>
            </a:r>
            <a:r>
              <a:rPr lang="en-US" sz="1500" err="1"/>
              <a:t>Nomoto</a:t>
            </a:r>
            <a:r>
              <a:rPr lang="en-US" sz="1500"/>
              <a:t>, Chetan </a:t>
            </a:r>
            <a:r>
              <a:rPr lang="en-US" sz="1500" err="1"/>
              <a:t>Gupta,Takaharu</a:t>
            </a:r>
            <a:r>
              <a:rPr lang="en-US" sz="1500"/>
              <a:t> Matsui, Susumu Serita, and Chi Zhang. Bayesian optimization algorithm with agent-based supply chain simulator for multi-echelon inventory management. In2020 IEEE 16thInternational Conference on Automation Science and Engineering (CASE), pages 418–425.IEEE, 2020.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Matthew P </a:t>
            </a:r>
            <a:r>
              <a:rPr lang="en-US" sz="1500" err="1"/>
              <a:t>Manary</a:t>
            </a:r>
            <a:r>
              <a:rPr lang="en-US" sz="1500"/>
              <a:t> and Sean P Willems. Setting safety-stock targets at intel in the presence </a:t>
            </a:r>
            <a:r>
              <a:rPr lang="en-US" sz="1500" err="1"/>
              <a:t>offorecast</a:t>
            </a:r>
            <a:r>
              <a:rPr lang="en-US" sz="1500"/>
              <a:t> </a:t>
            </a:r>
            <a:r>
              <a:rPr lang="en-US" sz="1500" err="1"/>
              <a:t>bias.Interfaces</a:t>
            </a:r>
            <a:r>
              <a:rPr lang="en-US" sz="1500"/>
              <a:t>, 38(2):112–122, 2008.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Matthew P </a:t>
            </a:r>
            <a:r>
              <a:rPr lang="en-US" sz="1500" err="1"/>
              <a:t>Manary</a:t>
            </a:r>
            <a:r>
              <a:rPr lang="en-US" sz="1500"/>
              <a:t>, Sean P Willems, and Alison F </a:t>
            </a:r>
            <a:r>
              <a:rPr lang="en-US" sz="1500" err="1"/>
              <a:t>Shihata</a:t>
            </a:r>
            <a:r>
              <a:rPr lang="en-US" sz="1500"/>
              <a:t>. Correcting heterogeneous </a:t>
            </a:r>
            <a:r>
              <a:rPr lang="en-US" sz="1500" err="1"/>
              <a:t>andbiased</a:t>
            </a:r>
            <a:r>
              <a:rPr lang="en-US" sz="1500"/>
              <a:t> forecast error at intel for supply chain </a:t>
            </a:r>
            <a:r>
              <a:rPr lang="en-US" sz="1500" err="1"/>
              <a:t>optimization.Interfaces</a:t>
            </a:r>
            <a:r>
              <a:rPr lang="en-US" sz="1500"/>
              <a:t>, 39(5):415–427, 2009.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Brian Wieland, Pat Mastrantonio, Sean P Willems, and Karl G </a:t>
            </a:r>
            <a:r>
              <a:rPr lang="en-US" sz="1500" err="1"/>
              <a:t>Kempf</a:t>
            </a:r>
            <a:r>
              <a:rPr lang="en-US" sz="1500"/>
              <a:t>. Optimizing </a:t>
            </a:r>
            <a:r>
              <a:rPr lang="en-US" sz="1500" err="1"/>
              <a:t>inventorylevels</a:t>
            </a:r>
            <a:r>
              <a:rPr lang="en-US" sz="1500"/>
              <a:t> within intel’s channel supply demand </a:t>
            </a:r>
            <a:r>
              <a:rPr lang="en-US" sz="1500" err="1"/>
              <a:t>operations.Interfaces</a:t>
            </a:r>
            <a:r>
              <a:rPr lang="en-US" sz="1500"/>
              <a:t>, 42(6):517–527, 2012.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Mohammad </a:t>
            </a:r>
            <a:r>
              <a:rPr lang="en-US" sz="1500" err="1"/>
              <a:t>Pirhooshyaran</a:t>
            </a:r>
            <a:r>
              <a:rPr lang="en-US" sz="1500"/>
              <a:t> and Lawrence V </a:t>
            </a:r>
            <a:r>
              <a:rPr lang="en-US" sz="1500" err="1"/>
              <a:t>Snyder.Simultaneous</a:t>
            </a:r>
            <a:r>
              <a:rPr lang="en-US" sz="1500"/>
              <a:t> decision making </a:t>
            </a:r>
            <a:r>
              <a:rPr lang="en-US" sz="1500" err="1"/>
              <a:t>forstochastic</a:t>
            </a:r>
            <a:r>
              <a:rPr lang="en-US" sz="1500"/>
              <a:t> multi-echelon inventory optimization with deep neural networks as decision </a:t>
            </a:r>
            <a:r>
              <a:rPr lang="en-US" sz="1500" err="1"/>
              <a:t>makers.arXiv</a:t>
            </a:r>
            <a:r>
              <a:rPr lang="en-US" sz="1500"/>
              <a:t> preprint arXiv:2006.05608, 2020.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Juan R </a:t>
            </a:r>
            <a:r>
              <a:rPr lang="en-US" sz="1500" err="1"/>
              <a:t>Trapero</a:t>
            </a:r>
            <a:r>
              <a:rPr lang="en-US" sz="1500"/>
              <a:t>, Manuel </a:t>
            </a:r>
            <a:r>
              <a:rPr lang="en-US" sz="1500" err="1"/>
              <a:t>Cardos</a:t>
            </a:r>
            <a:r>
              <a:rPr lang="en-US" sz="1500"/>
              <a:t>, and Nikolaos </a:t>
            </a:r>
            <a:r>
              <a:rPr lang="en-US" sz="1500" err="1"/>
              <a:t>Kourentzes</a:t>
            </a:r>
            <a:r>
              <a:rPr lang="en-US" sz="1500"/>
              <a:t>. Empirical safety stock </a:t>
            </a:r>
            <a:r>
              <a:rPr lang="en-US" sz="1500" err="1"/>
              <a:t>estimationbased</a:t>
            </a:r>
            <a:r>
              <a:rPr lang="en-US" sz="1500"/>
              <a:t> on kernel and </a:t>
            </a:r>
            <a:r>
              <a:rPr lang="en-US" sz="1500" err="1"/>
              <a:t>garch</a:t>
            </a:r>
            <a:r>
              <a:rPr lang="en-US" sz="1500"/>
              <a:t> </a:t>
            </a:r>
            <a:r>
              <a:rPr lang="en-US" sz="1500" err="1"/>
              <a:t>models.Omega</a:t>
            </a:r>
            <a:r>
              <a:rPr lang="en-US" sz="1500"/>
              <a:t>, 84:199–211, 2019.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T Warren Liao and Pei-</a:t>
            </a:r>
            <a:r>
              <a:rPr lang="en-US" sz="1500" dirty="0" err="1"/>
              <a:t>Chann</a:t>
            </a:r>
            <a:r>
              <a:rPr lang="en-US" sz="1500" dirty="0"/>
              <a:t> Chang. Impacts of forecast, inventory policy, and lead time </a:t>
            </a:r>
            <a:r>
              <a:rPr lang="en-US" sz="1500" dirty="0" err="1"/>
              <a:t>onsupply</a:t>
            </a:r>
            <a:r>
              <a:rPr lang="en-US" sz="1500" dirty="0"/>
              <a:t> chain inventory—a numerical </a:t>
            </a:r>
            <a:r>
              <a:rPr lang="en-US" sz="1500" dirty="0" err="1"/>
              <a:t>study.International</a:t>
            </a:r>
            <a:r>
              <a:rPr lang="en-US" sz="1500" dirty="0"/>
              <a:t> Journal of Production Economics,128(2):527–537, 2010.</a:t>
            </a:r>
          </a:p>
        </p:txBody>
      </p:sp>
    </p:spTree>
    <p:extLst>
      <p:ext uri="{BB962C8B-B14F-4D97-AF65-F5344CB8AC3E}">
        <p14:creationId xmlns:p14="http://schemas.microsoft.com/office/powerpoint/2010/main" val="216631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565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Development of a data-driven approach for understanding discrepancies between design and implementation of inventory policies. </vt:lpstr>
      <vt:lpstr>Introduction + Background</vt:lpstr>
      <vt:lpstr>Summary of Related Works </vt:lpstr>
      <vt:lpstr>Our work with the industrial partner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data-driven approach for understanding discrepancies between design and implementation of inventory policies. </dc:title>
  <dc:creator>Sudharshan Bindiganavale Ramesh (RIT Student)</dc:creator>
  <cp:lastModifiedBy>Sudharshan Bindiganavale Ramesh (RIT Student)</cp:lastModifiedBy>
  <cp:revision>2</cp:revision>
  <dcterms:created xsi:type="dcterms:W3CDTF">2022-03-03T23:51:01Z</dcterms:created>
  <dcterms:modified xsi:type="dcterms:W3CDTF">2022-03-04T19:57:12Z</dcterms:modified>
</cp:coreProperties>
</file>