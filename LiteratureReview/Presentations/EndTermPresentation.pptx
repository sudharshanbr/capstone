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6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07"/>
    <p:restoredTop sz="95728"/>
  </p:normalViewPr>
  <p:slideViewPr>
    <p:cSldViewPr snapToGrid="0" snapToObjects="1">
      <p:cViewPr varScale="1">
        <p:scale>
          <a:sx n="109" d="100"/>
          <a:sy n="109" d="100"/>
        </p:scale>
        <p:origin x="9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6899861-F8D1-455A-A210-9EAEE3CA0E42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B89FF80-0C10-4D97-B514-B0108621F188}">
      <dgm:prSet/>
      <dgm:spPr/>
      <dgm:t>
        <a:bodyPr/>
        <a:lstStyle/>
        <a:p>
          <a:pPr>
            <a:defRPr b="1"/>
          </a:pPr>
          <a:r>
            <a:rPr lang="en-US"/>
            <a:t>Work done this semester :</a:t>
          </a:r>
        </a:p>
      </dgm:t>
    </dgm:pt>
    <dgm:pt modelId="{4BAD1180-67F6-423C-A764-2BEA76D47741}" type="parTrans" cxnId="{57D0C5CF-94A5-47ED-A147-F1E339E8C7BA}">
      <dgm:prSet/>
      <dgm:spPr/>
      <dgm:t>
        <a:bodyPr/>
        <a:lstStyle/>
        <a:p>
          <a:endParaRPr lang="en-US"/>
        </a:p>
      </dgm:t>
    </dgm:pt>
    <dgm:pt modelId="{DBCA6811-AA4D-4C92-8B4F-922B1F4445D0}" type="sibTrans" cxnId="{57D0C5CF-94A5-47ED-A147-F1E339E8C7BA}">
      <dgm:prSet/>
      <dgm:spPr/>
      <dgm:t>
        <a:bodyPr/>
        <a:lstStyle/>
        <a:p>
          <a:endParaRPr lang="en-US"/>
        </a:p>
      </dgm:t>
    </dgm:pt>
    <dgm:pt modelId="{1B71B071-17C3-4A92-A848-F15C37955756}">
      <dgm:prSet/>
      <dgm:spPr/>
      <dgm:t>
        <a:bodyPr/>
        <a:lstStyle/>
        <a:p>
          <a:r>
            <a:rPr lang="en-US"/>
            <a:t>Conduct literature survey.</a:t>
          </a:r>
        </a:p>
      </dgm:t>
    </dgm:pt>
    <dgm:pt modelId="{EC771CA5-F5C9-4223-8497-E5383A8835D5}" type="parTrans" cxnId="{9214D78F-EC05-47EA-9A70-EE8191C1561B}">
      <dgm:prSet/>
      <dgm:spPr/>
      <dgm:t>
        <a:bodyPr/>
        <a:lstStyle/>
        <a:p>
          <a:endParaRPr lang="en-US"/>
        </a:p>
      </dgm:t>
    </dgm:pt>
    <dgm:pt modelId="{F640E737-3BB4-4627-B933-8DA8EDFCD903}" type="sibTrans" cxnId="{9214D78F-EC05-47EA-9A70-EE8191C1561B}">
      <dgm:prSet/>
      <dgm:spPr/>
      <dgm:t>
        <a:bodyPr/>
        <a:lstStyle/>
        <a:p>
          <a:endParaRPr lang="en-US"/>
        </a:p>
      </dgm:t>
    </dgm:pt>
    <dgm:pt modelId="{DB8549A3-BD0F-4953-8ECA-09725A45A056}">
      <dgm:prSet/>
      <dgm:spPr/>
      <dgm:t>
        <a:bodyPr/>
        <a:lstStyle/>
        <a:p>
          <a:r>
            <a:rPr lang="en-US"/>
            <a:t>Understand the domain.</a:t>
          </a:r>
        </a:p>
      </dgm:t>
    </dgm:pt>
    <dgm:pt modelId="{EC47D9CE-AD68-4302-81A7-1FEFD7C4AF6C}" type="parTrans" cxnId="{533B88A5-308E-468F-AA25-E39718784C39}">
      <dgm:prSet/>
      <dgm:spPr/>
      <dgm:t>
        <a:bodyPr/>
        <a:lstStyle/>
        <a:p>
          <a:endParaRPr lang="en-US"/>
        </a:p>
      </dgm:t>
    </dgm:pt>
    <dgm:pt modelId="{FA841873-4B41-422F-91B6-940B8AD15128}" type="sibTrans" cxnId="{533B88A5-308E-468F-AA25-E39718784C39}">
      <dgm:prSet/>
      <dgm:spPr/>
      <dgm:t>
        <a:bodyPr/>
        <a:lstStyle/>
        <a:p>
          <a:endParaRPr lang="en-US"/>
        </a:p>
      </dgm:t>
    </dgm:pt>
    <dgm:pt modelId="{44BD46B1-C89B-4826-B09A-A5E4B530E7AB}">
      <dgm:prSet/>
      <dgm:spPr/>
      <dgm:t>
        <a:bodyPr/>
        <a:lstStyle/>
        <a:p>
          <a:r>
            <a:rPr lang="en-US"/>
            <a:t>Recreate research objectives present in a paper.</a:t>
          </a:r>
        </a:p>
      </dgm:t>
    </dgm:pt>
    <dgm:pt modelId="{FDF5FFB9-7068-486C-AE6C-03D065A4D767}" type="parTrans" cxnId="{8E4C7690-804B-445B-AD65-57A268B673B0}">
      <dgm:prSet/>
      <dgm:spPr/>
      <dgm:t>
        <a:bodyPr/>
        <a:lstStyle/>
        <a:p>
          <a:endParaRPr lang="en-US"/>
        </a:p>
      </dgm:t>
    </dgm:pt>
    <dgm:pt modelId="{C1AB6931-60CD-469E-AD0B-41B5216570CD}" type="sibTrans" cxnId="{8E4C7690-804B-445B-AD65-57A268B673B0}">
      <dgm:prSet/>
      <dgm:spPr/>
      <dgm:t>
        <a:bodyPr/>
        <a:lstStyle/>
        <a:p>
          <a:endParaRPr lang="en-US"/>
        </a:p>
      </dgm:t>
    </dgm:pt>
    <dgm:pt modelId="{65449247-99D7-46F9-B1FE-7112BC257E9E}">
      <dgm:prSet/>
      <dgm:spPr/>
      <dgm:t>
        <a:bodyPr/>
        <a:lstStyle/>
        <a:p>
          <a:pPr>
            <a:defRPr b="1"/>
          </a:pPr>
          <a:r>
            <a:rPr lang="en-US"/>
            <a:t>Work planned : </a:t>
          </a:r>
        </a:p>
      </dgm:t>
    </dgm:pt>
    <dgm:pt modelId="{039393B1-0A4A-45BD-8FE3-F4ED6DD2ABA8}" type="parTrans" cxnId="{E558229D-C871-46FF-8BF3-5FA9C0ED045F}">
      <dgm:prSet/>
      <dgm:spPr/>
      <dgm:t>
        <a:bodyPr/>
        <a:lstStyle/>
        <a:p>
          <a:endParaRPr lang="en-US"/>
        </a:p>
      </dgm:t>
    </dgm:pt>
    <dgm:pt modelId="{29C4E154-A5B8-46A3-984C-128195999AF8}" type="sibTrans" cxnId="{E558229D-C871-46FF-8BF3-5FA9C0ED045F}">
      <dgm:prSet/>
      <dgm:spPr/>
      <dgm:t>
        <a:bodyPr/>
        <a:lstStyle/>
        <a:p>
          <a:endParaRPr lang="en-US"/>
        </a:p>
      </dgm:t>
    </dgm:pt>
    <dgm:pt modelId="{88096DB3-266B-4A10-B609-AFE9E00253EE}">
      <dgm:prSet/>
      <dgm:spPr/>
      <dgm:t>
        <a:bodyPr/>
        <a:lstStyle/>
        <a:p>
          <a:r>
            <a:rPr lang="en-US"/>
            <a:t>We plan to have an initial connect with our client and obtain data.</a:t>
          </a:r>
        </a:p>
      </dgm:t>
    </dgm:pt>
    <dgm:pt modelId="{A09BB63C-8057-447D-A4A2-D176FF747E47}" type="parTrans" cxnId="{0FBBD4DA-4610-4C98-8861-45C8287E7235}">
      <dgm:prSet/>
      <dgm:spPr/>
      <dgm:t>
        <a:bodyPr/>
        <a:lstStyle/>
        <a:p>
          <a:endParaRPr lang="en-US"/>
        </a:p>
      </dgm:t>
    </dgm:pt>
    <dgm:pt modelId="{0396E4E2-D194-45D9-BDD1-C25092691D8F}" type="sibTrans" cxnId="{0FBBD4DA-4610-4C98-8861-45C8287E7235}">
      <dgm:prSet/>
      <dgm:spPr/>
      <dgm:t>
        <a:bodyPr/>
        <a:lstStyle/>
        <a:p>
          <a:endParaRPr lang="en-US"/>
        </a:p>
      </dgm:t>
    </dgm:pt>
    <dgm:pt modelId="{FDBD2CC5-0F11-44D6-9032-633E9DF8F4CA}">
      <dgm:prSet/>
      <dgm:spPr/>
      <dgm:t>
        <a:bodyPr/>
        <a:lstStyle/>
        <a:p>
          <a:r>
            <a:rPr lang="en-US"/>
            <a:t>Perform all the steps as planned in order to arrive at the end goal.</a:t>
          </a:r>
        </a:p>
      </dgm:t>
    </dgm:pt>
    <dgm:pt modelId="{BFE1F174-E37B-49CE-A9D1-A2F9EA37FF3A}" type="parTrans" cxnId="{BBC54E4A-4389-4283-85AE-E64D7688A515}">
      <dgm:prSet/>
      <dgm:spPr/>
      <dgm:t>
        <a:bodyPr/>
        <a:lstStyle/>
        <a:p>
          <a:endParaRPr lang="en-US"/>
        </a:p>
      </dgm:t>
    </dgm:pt>
    <dgm:pt modelId="{E7DE2869-8191-4898-9FD3-A76347420596}" type="sibTrans" cxnId="{BBC54E4A-4389-4283-85AE-E64D7688A515}">
      <dgm:prSet/>
      <dgm:spPr/>
      <dgm:t>
        <a:bodyPr/>
        <a:lstStyle/>
        <a:p>
          <a:endParaRPr lang="en-US"/>
        </a:p>
      </dgm:t>
    </dgm:pt>
    <dgm:pt modelId="{2FACC5CE-BC30-46D2-A60F-3FBEC188D88E}" type="pres">
      <dgm:prSet presAssocID="{56899861-F8D1-455A-A210-9EAEE3CA0E42}" presName="root" presStyleCnt="0">
        <dgm:presLayoutVars>
          <dgm:dir/>
          <dgm:resizeHandles val="exact"/>
        </dgm:presLayoutVars>
      </dgm:prSet>
      <dgm:spPr/>
    </dgm:pt>
    <dgm:pt modelId="{767B1F54-C729-4949-85AA-E55F98F030E1}" type="pres">
      <dgm:prSet presAssocID="{7B89FF80-0C10-4D97-B514-B0108621F188}" presName="compNode" presStyleCnt="0"/>
      <dgm:spPr/>
    </dgm:pt>
    <dgm:pt modelId="{6AC90FE2-8F1E-4AB9-BED5-C0CACEA507C2}" type="pres">
      <dgm:prSet presAssocID="{7B89FF80-0C10-4D97-B514-B0108621F18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6D074378-468C-4542-8C3D-F478448E4DA2}" type="pres">
      <dgm:prSet presAssocID="{7B89FF80-0C10-4D97-B514-B0108621F188}" presName="iconSpace" presStyleCnt="0"/>
      <dgm:spPr/>
    </dgm:pt>
    <dgm:pt modelId="{CB302275-BBC2-4938-BC2E-64A6664E2672}" type="pres">
      <dgm:prSet presAssocID="{7B89FF80-0C10-4D97-B514-B0108621F188}" presName="parTx" presStyleLbl="revTx" presStyleIdx="0" presStyleCnt="4">
        <dgm:presLayoutVars>
          <dgm:chMax val="0"/>
          <dgm:chPref val="0"/>
        </dgm:presLayoutVars>
      </dgm:prSet>
      <dgm:spPr/>
    </dgm:pt>
    <dgm:pt modelId="{FAA1B5CD-1B9D-41B7-B44D-F401251C6417}" type="pres">
      <dgm:prSet presAssocID="{7B89FF80-0C10-4D97-B514-B0108621F188}" presName="txSpace" presStyleCnt="0"/>
      <dgm:spPr/>
    </dgm:pt>
    <dgm:pt modelId="{4A2570FA-815D-4EA9-A16A-13378E09DDB6}" type="pres">
      <dgm:prSet presAssocID="{7B89FF80-0C10-4D97-B514-B0108621F188}" presName="desTx" presStyleLbl="revTx" presStyleIdx="1" presStyleCnt="4">
        <dgm:presLayoutVars/>
      </dgm:prSet>
      <dgm:spPr/>
    </dgm:pt>
    <dgm:pt modelId="{E3170ABE-625C-496B-8E46-CA52BE6B384F}" type="pres">
      <dgm:prSet presAssocID="{DBCA6811-AA4D-4C92-8B4F-922B1F4445D0}" presName="sibTrans" presStyleCnt="0"/>
      <dgm:spPr/>
    </dgm:pt>
    <dgm:pt modelId="{5E4926DE-95E8-48BD-89E0-C62EF27BF3BD}" type="pres">
      <dgm:prSet presAssocID="{65449247-99D7-46F9-B1FE-7112BC257E9E}" presName="compNode" presStyleCnt="0"/>
      <dgm:spPr/>
    </dgm:pt>
    <dgm:pt modelId="{F6F1797A-240C-44CD-BC8F-D1CB24FE3433}" type="pres">
      <dgm:prSet presAssocID="{65449247-99D7-46F9-B1FE-7112BC257E9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D0523B05-809F-4A6A-A50D-D2D76935AED8}" type="pres">
      <dgm:prSet presAssocID="{65449247-99D7-46F9-B1FE-7112BC257E9E}" presName="iconSpace" presStyleCnt="0"/>
      <dgm:spPr/>
    </dgm:pt>
    <dgm:pt modelId="{CEA74F15-08AA-42D0-9D2C-8B29EDD38874}" type="pres">
      <dgm:prSet presAssocID="{65449247-99D7-46F9-B1FE-7112BC257E9E}" presName="parTx" presStyleLbl="revTx" presStyleIdx="2" presStyleCnt="4">
        <dgm:presLayoutVars>
          <dgm:chMax val="0"/>
          <dgm:chPref val="0"/>
        </dgm:presLayoutVars>
      </dgm:prSet>
      <dgm:spPr/>
    </dgm:pt>
    <dgm:pt modelId="{48E9C09A-D9BC-469B-9C16-F0870C8D129C}" type="pres">
      <dgm:prSet presAssocID="{65449247-99D7-46F9-B1FE-7112BC257E9E}" presName="txSpace" presStyleCnt="0"/>
      <dgm:spPr/>
    </dgm:pt>
    <dgm:pt modelId="{B7EE9174-AAD0-44E2-AE75-E89A7E6223EA}" type="pres">
      <dgm:prSet presAssocID="{65449247-99D7-46F9-B1FE-7112BC257E9E}" presName="desTx" presStyleLbl="revTx" presStyleIdx="3" presStyleCnt="4">
        <dgm:presLayoutVars/>
      </dgm:prSet>
      <dgm:spPr/>
    </dgm:pt>
  </dgm:ptLst>
  <dgm:cxnLst>
    <dgm:cxn modelId="{D2BC832E-5781-4A5F-9917-6AAEF7BB0D32}" type="presOf" srcId="{65449247-99D7-46F9-B1FE-7112BC257E9E}" destId="{CEA74F15-08AA-42D0-9D2C-8B29EDD38874}" srcOrd="0" destOrd="0" presId="urn:microsoft.com/office/officeart/2018/5/layout/CenteredIconLabelDescriptionList"/>
    <dgm:cxn modelId="{3898FE34-2A3C-468F-ACC7-49FEEFE57C8F}" type="presOf" srcId="{FDBD2CC5-0F11-44D6-9032-633E9DF8F4CA}" destId="{B7EE9174-AAD0-44E2-AE75-E89A7E6223EA}" srcOrd="0" destOrd="1" presId="urn:microsoft.com/office/officeart/2018/5/layout/CenteredIconLabelDescriptionList"/>
    <dgm:cxn modelId="{BBC54E4A-4389-4283-85AE-E64D7688A515}" srcId="{65449247-99D7-46F9-B1FE-7112BC257E9E}" destId="{FDBD2CC5-0F11-44D6-9032-633E9DF8F4CA}" srcOrd="1" destOrd="0" parTransId="{BFE1F174-E37B-49CE-A9D1-A2F9EA37FF3A}" sibTransId="{E7DE2869-8191-4898-9FD3-A76347420596}"/>
    <dgm:cxn modelId="{9214D78F-EC05-47EA-9A70-EE8191C1561B}" srcId="{7B89FF80-0C10-4D97-B514-B0108621F188}" destId="{1B71B071-17C3-4A92-A848-F15C37955756}" srcOrd="0" destOrd="0" parTransId="{EC771CA5-F5C9-4223-8497-E5383A8835D5}" sibTransId="{F640E737-3BB4-4627-B933-8DA8EDFCD903}"/>
    <dgm:cxn modelId="{8E4C7690-804B-445B-AD65-57A268B673B0}" srcId="{7B89FF80-0C10-4D97-B514-B0108621F188}" destId="{44BD46B1-C89B-4826-B09A-A5E4B530E7AB}" srcOrd="2" destOrd="0" parTransId="{FDF5FFB9-7068-486C-AE6C-03D065A4D767}" sibTransId="{C1AB6931-60CD-469E-AD0B-41B5216570CD}"/>
    <dgm:cxn modelId="{C813BA98-8D6F-4047-9C8D-44EB5BD0EF29}" type="presOf" srcId="{7B89FF80-0C10-4D97-B514-B0108621F188}" destId="{CB302275-BBC2-4938-BC2E-64A6664E2672}" srcOrd="0" destOrd="0" presId="urn:microsoft.com/office/officeart/2018/5/layout/CenteredIconLabelDescriptionList"/>
    <dgm:cxn modelId="{E558229D-C871-46FF-8BF3-5FA9C0ED045F}" srcId="{56899861-F8D1-455A-A210-9EAEE3CA0E42}" destId="{65449247-99D7-46F9-B1FE-7112BC257E9E}" srcOrd="1" destOrd="0" parTransId="{039393B1-0A4A-45BD-8FE3-F4ED6DD2ABA8}" sibTransId="{29C4E154-A5B8-46A3-984C-128195999AF8}"/>
    <dgm:cxn modelId="{533B88A5-308E-468F-AA25-E39718784C39}" srcId="{7B89FF80-0C10-4D97-B514-B0108621F188}" destId="{DB8549A3-BD0F-4953-8ECA-09725A45A056}" srcOrd="1" destOrd="0" parTransId="{EC47D9CE-AD68-4302-81A7-1FEFD7C4AF6C}" sibTransId="{FA841873-4B41-422F-91B6-940B8AD15128}"/>
    <dgm:cxn modelId="{35926BAA-35D6-48B3-B50B-724080B172C4}" type="presOf" srcId="{1B71B071-17C3-4A92-A848-F15C37955756}" destId="{4A2570FA-815D-4EA9-A16A-13378E09DDB6}" srcOrd="0" destOrd="0" presId="urn:microsoft.com/office/officeart/2018/5/layout/CenteredIconLabelDescriptionList"/>
    <dgm:cxn modelId="{63465FB1-D345-40F3-9E88-93E233062994}" type="presOf" srcId="{44BD46B1-C89B-4826-B09A-A5E4B530E7AB}" destId="{4A2570FA-815D-4EA9-A16A-13378E09DDB6}" srcOrd="0" destOrd="2" presId="urn:microsoft.com/office/officeart/2018/5/layout/CenteredIconLabelDescriptionList"/>
    <dgm:cxn modelId="{ADD4D1B3-9ECE-4521-9998-1ABE284BC69F}" type="presOf" srcId="{DB8549A3-BD0F-4953-8ECA-09725A45A056}" destId="{4A2570FA-815D-4EA9-A16A-13378E09DDB6}" srcOrd="0" destOrd="1" presId="urn:microsoft.com/office/officeart/2018/5/layout/CenteredIconLabelDescriptionList"/>
    <dgm:cxn modelId="{57D0C5CF-94A5-47ED-A147-F1E339E8C7BA}" srcId="{56899861-F8D1-455A-A210-9EAEE3CA0E42}" destId="{7B89FF80-0C10-4D97-B514-B0108621F188}" srcOrd="0" destOrd="0" parTransId="{4BAD1180-67F6-423C-A764-2BEA76D47741}" sibTransId="{DBCA6811-AA4D-4C92-8B4F-922B1F4445D0}"/>
    <dgm:cxn modelId="{0FBBD4DA-4610-4C98-8861-45C8287E7235}" srcId="{65449247-99D7-46F9-B1FE-7112BC257E9E}" destId="{88096DB3-266B-4A10-B609-AFE9E00253EE}" srcOrd="0" destOrd="0" parTransId="{A09BB63C-8057-447D-A4A2-D176FF747E47}" sibTransId="{0396E4E2-D194-45D9-BDD1-C25092691D8F}"/>
    <dgm:cxn modelId="{A42E32E2-D184-4F44-9386-DD225916DCCA}" type="presOf" srcId="{88096DB3-266B-4A10-B609-AFE9E00253EE}" destId="{B7EE9174-AAD0-44E2-AE75-E89A7E6223EA}" srcOrd="0" destOrd="0" presId="urn:microsoft.com/office/officeart/2018/5/layout/CenteredIconLabelDescriptionList"/>
    <dgm:cxn modelId="{A3181BF9-92CE-46A1-B3A4-00C15ACC2B86}" type="presOf" srcId="{56899861-F8D1-455A-A210-9EAEE3CA0E42}" destId="{2FACC5CE-BC30-46D2-A60F-3FBEC188D88E}" srcOrd="0" destOrd="0" presId="urn:microsoft.com/office/officeart/2018/5/layout/CenteredIconLabelDescriptionList"/>
    <dgm:cxn modelId="{DB85BF0E-4323-4B66-81FF-EEE23E5F7C87}" type="presParOf" srcId="{2FACC5CE-BC30-46D2-A60F-3FBEC188D88E}" destId="{767B1F54-C729-4949-85AA-E55F98F030E1}" srcOrd="0" destOrd="0" presId="urn:microsoft.com/office/officeart/2018/5/layout/CenteredIconLabelDescriptionList"/>
    <dgm:cxn modelId="{5CBAA0DC-A417-463F-A245-88E6C9CAA59E}" type="presParOf" srcId="{767B1F54-C729-4949-85AA-E55F98F030E1}" destId="{6AC90FE2-8F1E-4AB9-BED5-C0CACEA507C2}" srcOrd="0" destOrd="0" presId="urn:microsoft.com/office/officeart/2018/5/layout/CenteredIconLabelDescriptionList"/>
    <dgm:cxn modelId="{EC6D9C53-C5D8-42D3-B1B8-EB4F76E967F6}" type="presParOf" srcId="{767B1F54-C729-4949-85AA-E55F98F030E1}" destId="{6D074378-468C-4542-8C3D-F478448E4DA2}" srcOrd="1" destOrd="0" presId="urn:microsoft.com/office/officeart/2018/5/layout/CenteredIconLabelDescriptionList"/>
    <dgm:cxn modelId="{617A5A67-E386-4430-BC95-BB5D0D0EF57D}" type="presParOf" srcId="{767B1F54-C729-4949-85AA-E55F98F030E1}" destId="{CB302275-BBC2-4938-BC2E-64A6664E2672}" srcOrd="2" destOrd="0" presId="urn:microsoft.com/office/officeart/2018/5/layout/CenteredIconLabelDescriptionList"/>
    <dgm:cxn modelId="{0EAA2F18-7D8E-47FD-82E6-8D880FB36FDB}" type="presParOf" srcId="{767B1F54-C729-4949-85AA-E55F98F030E1}" destId="{FAA1B5CD-1B9D-41B7-B44D-F401251C6417}" srcOrd="3" destOrd="0" presId="urn:microsoft.com/office/officeart/2018/5/layout/CenteredIconLabelDescriptionList"/>
    <dgm:cxn modelId="{31F2226E-CC55-4864-B022-35F19936120C}" type="presParOf" srcId="{767B1F54-C729-4949-85AA-E55F98F030E1}" destId="{4A2570FA-815D-4EA9-A16A-13378E09DDB6}" srcOrd="4" destOrd="0" presId="urn:microsoft.com/office/officeart/2018/5/layout/CenteredIconLabelDescriptionList"/>
    <dgm:cxn modelId="{8AFEE60F-0690-473F-ACCA-5AECD4E6C717}" type="presParOf" srcId="{2FACC5CE-BC30-46D2-A60F-3FBEC188D88E}" destId="{E3170ABE-625C-496B-8E46-CA52BE6B384F}" srcOrd="1" destOrd="0" presId="urn:microsoft.com/office/officeart/2018/5/layout/CenteredIconLabelDescriptionList"/>
    <dgm:cxn modelId="{3FA1A580-0228-45BE-93E0-02B6E7CA1E85}" type="presParOf" srcId="{2FACC5CE-BC30-46D2-A60F-3FBEC188D88E}" destId="{5E4926DE-95E8-48BD-89E0-C62EF27BF3BD}" srcOrd="2" destOrd="0" presId="urn:microsoft.com/office/officeart/2018/5/layout/CenteredIconLabelDescriptionList"/>
    <dgm:cxn modelId="{69A35EC2-5D6E-475A-84A9-9B4174E247B0}" type="presParOf" srcId="{5E4926DE-95E8-48BD-89E0-C62EF27BF3BD}" destId="{F6F1797A-240C-44CD-BC8F-D1CB24FE3433}" srcOrd="0" destOrd="0" presId="urn:microsoft.com/office/officeart/2018/5/layout/CenteredIconLabelDescriptionList"/>
    <dgm:cxn modelId="{0E54CE0E-449F-4636-B289-F611CD541B9E}" type="presParOf" srcId="{5E4926DE-95E8-48BD-89E0-C62EF27BF3BD}" destId="{D0523B05-809F-4A6A-A50D-D2D76935AED8}" srcOrd="1" destOrd="0" presId="urn:microsoft.com/office/officeart/2018/5/layout/CenteredIconLabelDescriptionList"/>
    <dgm:cxn modelId="{F856C982-6CD5-43D5-892A-B90559F9392D}" type="presParOf" srcId="{5E4926DE-95E8-48BD-89E0-C62EF27BF3BD}" destId="{CEA74F15-08AA-42D0-9D2C-8B29EDD38874}" srcOrd="2" destOrd="0" presId="urn:microsoft.com/office/officeart/2018/5/layout/CenteredIconLabelDescriptionList"/>
    <dgm:cxn modelId="{AC44CDC0-EC3A-47B4-942F-F77F9C5E3247}" type="presParOf" srcId="{5E4926DE-95E8-48BD-89E0-C62EF27BF3BD}" destId="{48E9C09A-D9BC-469B-9C16-F0870C8D129C}" srcOrd="3" destOrd="0" presId="urn:microsoft.com/office/officeart/2018/5/layout/CenteredIconLabelDescriptionList"/>
    <dgm:cxn modelId="{1573CA54-77C5-49BC-AC7E-51BCFBB562C7}" type="presParOf" srcId="{5E4926DE-95E8-48BD-89E0-C62EF27BF3BD}" destId="{B7EE9174-AAD0-44E2-AE75-E89A7E6223EA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C90FE2-8F1E-4AB9-BED5-C0CACEA507C2}">
      <dsp:nvSpPr>
        <dsp:cNvPr id="0" name=""/>
        <dsp:cNvSpPr/>
      </dsp:nvSpPr>
      <dsp:spPr>
        <a:xfrm>
          <a:off x="2169914" y="387361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302275-BBC2-4938-BC2E-64A6664E2672}">
      <dsp:nvSpPr>
        <dsp:cNvPr id="0" name=""/>
        <dsp:cNvSpPr/>
      </dsp:nvSpPr>
      <dsp:spPr>
        <a:xfrm>
          <a:off x="765914" y="2046339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100" kern="1200"/>
            <a:t>Work done this semester :</a:t>
          </a:r>
        </a:p>
      </dsp:txBody>
      <dsp:txXfrm>
        <a:off x="765914" y="2046339"/>
        <a:ext cx="4320000" cy="648000"/>
      </dsp:txXfrm>
    </dsp:sp>
    <dsp:sp modelId="{4A2570FA-815D-4EA9-A16A-13378E09DDB6}">
      <dsp:nvSpPr>
        <dsp:cNvPr id="0" name=""/>
        <dsp:cNvSpPr/>
      </dsp:nvSpPr>
      <dsp:spPr>
        <a:xfrm>
          <a:off x="765914" y="2762700"/>
          <a:ext cx="4320000" cy="1042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Conduct literature survey.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Understand the domain.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Recreate research objectives present in a paper.</a:t>
          </a:r>
        </a:p>
      </dsp:txBody>
      <dsp:txXfrm>
        <a:off x="765914" y="2762700"/>
        <a:ext cx="4320000" cy="1042742"/>
      </dsp:txXfrm>
    </dsp:sp>
    <dsp:sp modelId="{F6F1797A-240C-44CD-BC8F-D1CB24FE3433}">
      <dsp:nvSpPr>
        <dsp:cNvPr id="0" name=""/>
        <dsp:cNvSpPr/>
      </dsp:nvSpPr>
      <dsp:spPr>
        <a:xfrm>
          <a:off x="7245914" y="387361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A74F15-08AA-42D0-9D2C-8B29EDD38874}">
      <dsp:nvSpPr>
        <dsp:cNvPr id="0" name=""/>
        <dsp:cNvSpPr/>
      </dsp:nvSpPr>
      <dsp:spPr>
        <a:xfrm>
          <a:off x="5841914" y="2046339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100" kern="1200"/>
            <a:t>Work planned : </a:t>
          </a:r>
        </a:p>
      </dsp:txBody>
      <dsp:txXfrm>
        <a:off x="5841914" y="2046339"/>
        <a:ext cx="4320000" cy="648000"/>
      </dsp:txXfrm>
    </dsp:sp>
    <dsp:sp modelId="{B7EE9174-AAD0-44E2-AE75-E89A7E6223EA}">
      <dsp:nvSpPr>
        <dsp:cNvPr id="0" name=""/>
        <dsp:cNvSpPr/>
      </dsp:nvSpPr>
      <dsp:spPr>
        <a:xfrm>
          <a:off x="5841914" y="2762700"/>
          <a:ext cx="4320000" cy="1042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We plan to have an initial connect with our client and obtain data.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Perform all the steps as planned in order to arrive at the end goal.</a:t>
          </a:r>
        </a:p>
      </dsp:txBody>
      <dsp:txXfrm>
        <a:off x="5841914" y="2762700"/>
        <a:ext cx="4320000" cy="10427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62D16-B65E-88A4-028C-727A44B48F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F6432E-F123-8989-CE8C-137EE27881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D8BFCD-C1ED-9D41-972D-185A15CA7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75548-87AA-414D-8EE8-40E2F12999DB}" type="datetimeFigureOut">
              <a:rPr lang="en-US" smtClean="0"/>
              <a:t>4/27/22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A61E9-C9D1-FA3D-68E1-C0DC503F8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8EFA71-6DB5-1A1A-ECD7-24654D636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54F6F-7731-C241-A412-B481B468A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652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FDC2C-605F-13F7-EC2B-47C39B80B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ABF4F-730A-6AD8-A373-9670A38E6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8C14F0-85A3-9698-8EB0-7811091C2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75548-87AA-414D-8EE8-40E2F12999DB}" type="datetimeFigureOut">
              <a:rPr lang="en-US" smtClean="0"/>
              <a:t>4/27/22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28D79B-294C-40EC-C369-F3D94919B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A76C3-2F9E-04FA-1A95-9CEDEBA9B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54F6F-7731-C241-A412-B481B468A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999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EB94B-CD92-6C8D-6D16-A2E27E859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95973D-D062-D9AA-56FD-5EC107213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7DC3B1-0544-DD52-D475-A7E80D940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75548-87AA-414D-8EE8-40E2F12999DB}" type="datetimeFigureOut">
              <a:rPr lang="en-US" smtClean="0"/>
              <a:t>4/27/22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3A03F-5A97-A317-CD51-32DE77BEF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07650-BC6C-B3F1-AB76-7E968266F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54F6F-7731-C241-A412-B481B468A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589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30E2B-97F9-F9D6-9272-8F4AE3867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61BE4-B4A9-2381-8DD2-4747BD3526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588EAE-834D-92F3-B815-9BF0EE92CC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A52AFD-A3D5-D5A6-9EE7-9B1537100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75548-87AA-414D-8EE8-40E2F12999DB}" type="datetimeFigureOut">
              <a:rPr lang="en-US" smtClean="0"/>
              <a:t>4/27/22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CFB2BD-675B-2228-0412-DA2EFFF5E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BF4721-F21D-FE08-EC54-C8EC72468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54F6F-7731-C241-A412-B481B468A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6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5DFBE-B2D6-D2C4-5609-0C63081C0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5F547-112C-C827-03D7-BA4A3829B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A0C872-011A-1724-1AA0-574C3FB3E5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82E0A7-59BB-C6E8-BB04-E77AD3A777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385916-5D2C-598D-7EE0-AE05A187AB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737DE1-8F95-2DA0-C9B5-E5F82CDC9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75548-87AA-414D-8EE8-40E2F12999DB}" type="datetimeFigureOut">
              <a:rPr lang="en-US" smtClean="0"/>
              <a:t>4/27/22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9399FE-2545-66EB-0785-9A6DCF674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8186A5-5FCD-1A56-C7DB-2CDEA3FE8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54F6F-7731-C241-A412-B481B468A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024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C711E-CD09-1454-83EE-946D11732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5DB6C6-C7A2-2740-0B99-0E8F3410D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75548-87AA-414D-8EE8-40E2F12999DB}" type="datetimeFigureOut">
              <a:rPr lang="en-US" smtClean="0"/>
              <a:t>4/27/22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4F8D52-E411-5114-6DF1-DA72FFB6E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A4366-FC06-832B-808C-9F39179E0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54F6F-7731-C241-A412-B481B468A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565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44716C-45EC-F76D-4A5F-D793C379C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75548-87AA-414D-8EE8-40E2F12999DB}" type="datetimeFigureOut">
              <a:rPr lang="en-US" smtClean="0"/>
              <a:t>4/27/22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CBAAF5-9B91-4ED9-76F7-F2119B01C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2B01E6-8920-FE80-A44F-54A317193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54F6F-7731-C241-A412-B481B468A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742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84932-C417-BD52-4283-5BD0255A5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6F563-FB81-170A-05FE-11E4051B3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2954EB-725C-BB94-84E6-C16EEBECA0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E35DEB-5720-4303-1D5F-A2976CF6A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75548-87AA-414D-8EE8-40E2F12999DB}" type="datetimeFigureOut">
              <a:rPr lang="en-US" smtClean="0"/>
              <a:t>4/27/22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BBAE8A-D80C-35ED-04C6-C725D4F64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17237C-54EE-4E48-E6AB-BAA5551B6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54F6F-7731-C241-A412-B481B468A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882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ACA10-A57F-9AE1-D6C3-094B7C57A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57C281-AE78-110C-1BCA-6302318238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73F469-0D5D-8D65-E6D5-CF0604E281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D4E0F7-D3C0-DD45-87D6-E6512F5C4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75548-87AA-414D-8EE8-40E2F12999DB}" type="datetimeFigureOut">
              <a:rPr lang="en-US" smtClean="0"/>
              <a:t>4/27/22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43FD39-2AB5-1F4F-F2CC-3CF04562C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48014E-A807-CD24-29A8-A0B6DC1A6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54F6F-7731-C241-A412-B481B468A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189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93898-D669-6120-A5F8-A75C50E16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F2FDEB-5D72-BAE8-3C5B-2147C5E7BF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F54E42-012C-AFB0-8867-A04D7302D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75548-87AA-414D-8EE8-40E2F12999DB}" type="datetimeFigureOut">
              <a:rPr lang="en-US" smtClean="0"/>
              <a:t>4/27/22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CF794-4DDB-C3B6-FFAA-ECF229C85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F7A13-E62E-F4E3-6F18-79B753704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54F6F-7731-C241-A412-B481B468A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733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FF9531-11FC-29BA-D7F9-74D3DFFBDB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507292-CC1C-B32B-9D83-312B5B31AB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816E85-D60B-BB0B-8C90-5B0547D76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75548-87AA-414D-8EE8-40E2F12999DB}" type="datetimeFigureOut">
              <a:rPr lang="en-US" smtClean="0"/>
              <a:t>4/27/22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ADFF1-7F9F-7FAC-5646-7438B2CC7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F6F2C-73FE-FF46-6D20-AB50B5486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54F6F-7731-C241-A412-B481B468A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80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0C7C07-868A-07F0-8756-B62D5E45B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3B173B-C20F-C626-30FD-7A47F03B2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C0C5B-1FA3-252B-14E4-256B417A1F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D75548-87AA-414D-8EE8-40E2F12999DB}" type="datetimeFigureOut">
              <a:rPr lang="en-US" smtClean="0"/>
              <a:t>4/27/22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E0947-EDC5-10A9-6EA6-57E9B47AC1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AFBAB-A820-8B71-1B5A-1EE305D8A9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354F6F-7731-C241-A412-B481B468A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645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355EF9-9195-EE46-9A6E-C30AF9B799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15031" y="1380754"/>
            <a:ext cx="5561938" cy="2513516"/>
          </a:xfrm>
        </p:spPr>
        <p:txBody>
          <a:bodyPr>
            <a:normAutofit/>
          </a:bodyPr>
          <a:lstStyle/>
          <a:p>
            <a:r>
              <a:rPr lang="en-US" sz="3300" b="1"/>
              <a:t>Development of a data-driven approach for understanding discrepancies between design and implementation of inventory policies.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FE3A4E-B7E6-9046-B1EC-8A30966730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21281" y="3916146"/>
            <a:ext cx="5561938" cy="1534587"/>
          </a:xfrm>
        </p:spPr>
        <p:txBody>
          <a:bodyPr>
            <a:normAutofit/>
          </a:bodyPr>
          <a:lstStyle/>
          <a:p>
            <a:r>
              <a:rPr lang="en-US" dirty="0" err="1"/>
              <a:t>Sudharshan</a:t>
            </a:r>
            <a:r>
              <a:rPr lang="en-US" dirty="0"/>
              <a:t> BR – sb1501@rit.edu</a:t>
            </a:r>
          </a:p>
          <a:p>
            <a:r>
              <a:rPr lang="en-US" dirty="0"/>
              <a:t>Dr. </a:t>
            </a:r>
            <a:r>
              <a:rPr lang="en-US" dirty="0" err="1"/>
              <a:t>Nenad</a:t>
            </a:r>
            <a:r>
              <a:rPr lang="en-US" dirty="0"/>
              <a:t> </a:t>
            </a:r>
            <a:r>
              <a:rPr lang="en-US" dirty="0" err="1"/>
              <a:t>Nenadic</a:t>
            </a:r>
            <a:r>
              <a:rPr lang="en-US" dirty="0"/>
              <a:t> – </a:t>
            </a:r>
            <a:r>
              <a:rPr lang="en-US" dirty="0" err="1"/>
              <a:t>nxnasp@rit.edu</a:t>
            </a:r>
            <a:endParaRPr lang="en-US" dirty="0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144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C2BA34-6A89-B647-413C-50517685E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Overview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38766-3F6C-E01F-F0E0-B982AAC39E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 lnSpcReduction="10000"/>
          </a:bodyPr>
          <a:lstStyle/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r>
              <a:rPr lang="en-US" sz="2200" dirty="0"/>
              <a:t>What is it? </a:t>
            </a:r>
          </a:p>
          <a:p>
            <a:pPr lvl="1"/>
            <a:r>
              <a:rPr lang="en-US" sz="2200" dirty="0"/>
              <a:t>Multi-Echelon Inventory Optimization Problem.</a:t>
            </a:r>
          </a:p>
          <a:p>
            <a:r>
              <a:rPr lang="en-US" sz="2200" dirty="0"/>
              <a:t>What is the goal? </a:t>
            </a:r>
          </a:p>
          <a:p>
            <a:pPr lvl="1"/>
            <a:r>
              <a:rPr lang="en-US" sz="2200" dirty="0"/>
              <a:t>Build a data driven analytic framework to bring visibility on discrepancies present in the practice of existing inventory policy.</a:t>
            </a:r>
          </a:p>
          <a:p>
            <a:r>
              <a:rPr lang="en-US" sz="2200" dirty="0"/>
              <a:t>Duration? </a:t>
            </a:r>
          </a:p>
          <a:p>
            <a:pPr lvl="1"/>
            <a:r>
              <a:rPr lang="en-US" sz="2200" dirty="0"/>
              <a:t>May 2022 – April 2023.</a:t>
            </a:r>
          </a:p>
          <a:p>
            <a:r>
              <a:rPr lang="en-US" sz="2200" dirty="0"/>
              <a:t>Stakeholders? </a:t>
            </a:r>
          </a:p>
          <a:p>
            <a:pPr lvl="1"/>
            <a:r>
              <a:rPr lang="en-US" sz="2200" dirty="0"/>
              <a:t>Client – Dow Chemicals.</a:t>
            </a:r>
          </a:p>
          <a:p>
            <a:pPr lvl="1"/>
            <a:r>
              <a:rPr lang="en-US" sz="2200" dirty="0"/>
              <a:t>Funding Agency – MxD.</a:t>
            </a:r>
          </a:p>
          <a:p>
            <a:pPr lvl="1"/>
            <a:r>
              <a:rPr lang="en-US" sz="2200" dirty="0"/>
              <a:t>Builders – GIS @ RIT.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594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CD81A2A-6ED4-4EF4-A14C-912D31E14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0AD3EA-6BF5-6BE0-2291-0094CEDFB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</p:spPr>
        <p:txBody>
          <a:bodyPr>
            <a:normAutofit/>
          </a:bodyPr>
          <a:lstStyle/>
          <a:p>
            <a:r>
              <a:rPr lang="en-US"/>
              <a:t>Domain Model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661932C-CA15-4E17-B115-FAE7CBEE4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5E2E55D-2DCB-41F4-8191-D9602BFB7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9336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400" dirty="0"/>
          </a:p>
          <a:p>
            <a:pPr lvl="1"/>
            <a:r>
              <a:rPr lang="en-US" sz="1400" dirty="0"/>
              <a:t>Anonymized Data Sources :	</a:t>
            </a:r>
          </a:p>
          <a:p>
            <a:pPr lvl="2"/>
            <a:r>
              <a:rPr lang="en-US" sz="1400" dirty="0"/>
              <a:t>Initial set of hypothesis</a:t>
            </a:r>
          </a:p>
          <a:p>
            <a:pPr lvl="2"/>
            <a:r>
              <a:rPr lang="en-US" sz="1400" dirty="0"/>
              <a:t>Inventory data</a:t>
            </a:r>
          </a:p>
          <a:p>
            <a:pPr lvl="1"/>
            <a:r>
              <a:rPr lang="en-US" sz="1400" dirty="0"/>
              <a:t>EDA :</a:t>
            </a:r>
          </a:p>
          <a:p>
            <a:pPr lvl="2"/>
            <a:r>
              <a:rPr lang="en-US" sz="1400" dirty="0"/>
              <a:t>Feature characteristics</a:t>
            </a:r>
          </a:p>
          <a:p>
            <a:pPr lvl="2"/>
            <a:r>
              <a:rPr lang="en-US" sz="1400" dirty="0"/>
              <a:t>Existing relations with H</a:t>
            </a:r>
            <a:r>
              <a:rPr lang="en-US" sz="1400" baseline="-25000" dirty="0"/>
              <a:t>0</a:t>
            </a:r>
            <a:endParaRPr lang="en-US" sz="1400" dirty="0"/>
          </a:p>
          <a:p>
            <a:pPr lvl="1"/>
            <a:r>
              <a:rPr lang="en-US" sz="1400" dirty="0"/>
              <a:t>Data Pre-processing :</a:t>
            </a:r>
          </a:p>
          <a:p>
            <a:pPr lvl="2"/>
            <a:r>
              <a:rPr lang="en-US" sz="1400" dirty="0"/>
              <a:t>Feature selection</a:t>
            </a:r>
          </a:p>
          <a:p>
            <a:pPr lvl="2"/>
            <a:r>
              <a:rPr lang="en-US" sz="1400" dirty="0"/>
              <a:t>Probabilistic testing</a:t>
            </a:r>
          </a:p>
          <a:p>
            <a:pPr lvl="1"/>
            <a:r>
              <a:rPr lang="en-US" sz="1400" dirty="0"/>
              <a:t>Model :</a:t>
            </a:r>
          </a:p>
          <a:p>
            <a:pPr lvl="2"/>
            <a:r>
              <a:rPr lang="en-US" sz="1400" dirty="0"/>
              <a:t>Selection</a:t>
            </a:r>
          </a:p>
          <a:p>
            <a:pPr lvl="2"/>
            <a:r>
              <a:rPr lang="en-US" sz="1400" dirty="0"/>
              <a:t>Evaluation</a:t>
            </a:r>
          </a:p>
          <a:p>
            <a:pPr lvl="2"/>
            <a:r>
              <a:rPr lang="en-US" sz="1400" dirty="0"/>
              <a:t>Testing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590ADD5-9383-4D3D-9047-3DA2593CC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540822" cy="540822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D28553EA-EFBB-2C90-34AA-B95EE2954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964" y="1982148"/>
            <a:ext cx="6673272" cy="3970596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DABE3E45-88CF-45D8-8D40-C773324D9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9CD1692-827B-4C8D-B4A1-134FD04CF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B91ECDA9-56DC-4270-8F33-01C5637B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6580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75F47824-961D-465D-84F9-EAE11BC61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FEC9DA3E-C1D7-472D-B7C0-F71AE41FB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306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4A9C70-E072-1EB5-83E2-E72AFB194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Architecture Setup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8E05991E-FCC8-8957-20A8-39E8166C37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300391"/>
            <a:ext cx="6780700" cy="4254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150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DEBE39-96F7-E0B8-8712-63972FB78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Initial Hypothesis + Dataset</a:t>
            </a:r>
            <a:endParaRPr lang="en-US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E4D51AC-B989-77F2-99DD-708F3F49C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/>
              <a:t>H</a:t>
            </a:r>
            <a:r>
              <a:rPr lang="en-US" baseline="-25000"/>
              <a:t>0</a:t>
            </a:r>
            <a:r>
              <a:rPr lang="en-US"/>
              <a:t> helps us in understanding current issues faced by the client.</a:t>
            </a:r>
          </a:p>
          <a:p>
            <a:pPr lvl="1"/>
            <a:r>
              <a:rPr lang="en-US"/>
              <a:t>Half knowledge of an inventory manager costing the supply chain $$$.</a:t>
            </a:r>
          </a:p>
          <a:p>
            <a:pPr lvl="1"/>
            <a:r>
              <a:rPr lang="en-US"/>
              <a:t>Decision taken by a manager leading to a bottleneck elsewhere in the network.</a:t>
            </a:r>
          </a:p>
          <a:p>
            <a:r>
              <a:rPr lang="en-US"/>
              <a:t>Pending data is estimated to closely follow characteristics of an inventory management system.</a:t>
            </a:r>
          </a:p>
          <a:p>
            <a:pPr lvl="1"/>
            <a:r>
              <a:rPr lang="en-US"/>
              <a:t>Lead times, order levels, replenishment times, actual demand, forecasted demand, service level, item quantity etc. are some of the features we expect to be working on.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65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A4109D-2599-7584-B57C-D83DBD4F1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EDA and </a:t>
            </a:r>
            <a:br>
              <a:rPr lang="en-US" sz="3600" dirty="0">
                <a:solidFill>
                  <a:srgbClr val="FFFFFF"/>
                </a:solidFill>
              </a:rPr>
            </a:br>
            <a:r>
              <a:rPr lang="en-US" sz="3600" dirty="0">
                <a:solidFill>
                  <a:srgbClr val="FFFFFF"/>
                </a:solidFill>
              </a:rPr>
              <a:t>Pre-processing.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B02F3-7B11-4F16-4A78-D4720BEA95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Discover hidden correlations between H</a:t>
            </a:r>
            <a:r>
              <a:rPr lang="en-US" baseline="-25000" dirty="0"/>
              <a:t>0</a:t>
            </a:r>
            <a:r>
              <a:rPr lang="en-US" dirty="0"/>
              <a:t> and ground truth.</a:t>
            </a:r>
            <a:endParaRPr lang="en-US" baseline="-25000" dirty="0"/>
          </a:p>
          <a:p>
            <a:r>
              <a:rPr lang="en-US" dirty="0"/>
              <a:t>Extract vital features from dataset based on initial correlations.</a:t>
            </a:r>
          </a:p>
          <a:p>
            <a:r>
              <a:rPr lang="en-US" dirty="0"/>
              <a:t>Analyze features to unearth underlying distributions.</a:t>
            </a:r>
          </a:p>
          <a:p>
            <a:r>
              <a:rPr lang="en-US" dirty="0"/>
              <a:t>Research, test distribution correctness with several statistical tests.</a:t>
            </a:r>
          </a:p>
          <a:p>
            <a:r>
              <a:rPr lang="en-US" dirty="0"/>
              <a:t>Understand the impact of features by collaborating with the client.</a:t>
            </a:r>
          </a:p>
          <a:p>
            <a:r>
              <a:rPr lang="en-US" dirty="0"/>
              <a:t>Conduct hypothetical observations and experiments with data.</a:t>
            </a:r>
          </a:p>
        </p:txBody>
      </p:sp>
    </p:spTree>
    <p:extLst>
      <p:ext uri="{BB962C8B-B14F-4D97-AF65-F5344CB8AC3E}">
        <p14:creationId xmlns:p14="http://schemas.microsoft.com/office/powerpoint/2010/main" val="745436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F32E8A-163C-CA56-C977-887C4945F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Modeling.	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732B3-A8E1-62EE-C354-538359F08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Probabilistic ML</a:t>
            </a:r>
          </a:p>
          <a:p>
            <a:pPr lvl="1"/>
            <a:r>
              <a:rPr lang="en-US" dirty="0"/>
              <a:t>Build models based on probability.</a:t>
            </a:r>
          </a:p>
          <a:p>
            <a:r>
              <a:rPr lang="en-US" dirty="0"/>
              <a:t>Forecasting</a:t>
            </a:r>
          </a:p>
          <a:p>
            <a:pPr lvl="1"/>
            <a:r>
              <a:rPr lang="en-US" dirty="0"/>
              <a:t>Estimate inventory levels.</a:t>
            </a:r>
          </a:p>
          <a:p>
            <a:r>
              <a:rPr lang="en-US" dirty="0"/>
              <a:t>Evaluating</a:t>
            </a:r>
          </a:p>
          <a:p>
            <a:pPr lvl="1"/>
            <a:r>
              <a:rPr lang="en-US" dirty="0"/>
              <a:t>Perform tests to learn if the model is alleviating H</a:t>
            </a:r>
            <a:r>
              <a:rPr lang="en-US" baseline="-25000" dirty="0"/>
              <a:t>0.</a:t>
            </a:r>
          </a:p>
          <a:p>
            <a:r>
              <a:rPr lang="en-US" dirty="0"/>
              <a:t>Tuning</a:t>
            </a:r>
          </a:p>
          <a:p>
            <a:pPr lvl="1"/>
            <a:r>
              <a:rPr lang="en-US" dirty="0"/>
              <a:t>Increase model quality and accuracy.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5741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905BA41-EE6E-4F80-8636-447F22DD7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A9EE8A-1504-2249-52E0-2305A95C1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8465" y="3298722"/>
            <a:ext cx="8495070" cy="178440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Switch to code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D7549B2-EE05-4558-8C64-AC46755F2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25914" y="889251"/>
            <a:ext cx="2140172" cy="2140172"/>
          </a:xfrm>
          <a:prstGeom prst="ellipse">
            <a:avLst/>
          </a:prstGeom>
          <a:solidFill>
            <a:srgbClr val="FFFFFF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Graphic 5" descr="Processor">
            <a:extLst>
              <a:ext uri="{FF2B5EF4-FFF2-40B4-BE49-F238E27FC236}">
                <a16:creationId xmlns:a16="http://schemas.microsoft.com/office/drawing/2014/main" id="{8D9DFD59-412D-CB3E-06A8-66955674CB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08264" y="1371601"/>
            <a:ext cx="1175474" cy="1175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757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45CA849-654C-4173-AD99-B3A2528275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5264AD-6EE4-3A1E-02D1-39B01D8B2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201400" cy="1106424"/>
          </a:xfrm>
        </p:spPr>
        <p:txBody>
          <a:bodyPr>
            <a:normAutofit/>
          </a:bodyPr>
          <a:lstStyle/>
          <a:p>
            <a:r>
              <a:rPr lang="en-US" sz="3600"/>
              <a:t>Future Work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23A947-2D45-4208-AE2B-64948C87A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87931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7F51B896-0567-F89D-11B8-7DD362691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928" b="-1"/>
          <a:stretch/>
        </p:blipFill>
        <p:spPr>
          <a:xfrm>
            <a:off x="429768" y="1721922"/>
            <a:ext cx="6704891" cy="4520559"/>
          </a:xfrm>
          <a:prstGeom prst="rect">
            <a:avLst/>
          </a:prstGeom>
        </p:spPr>
      </p:pic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5BBB0F9-6A59-4D02-A9C7-A2D65166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3801" y="1721922"/>
            <a:ext cx="4218432" cy="4520560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CE1CC76-DF15-EF9A-31A1-C2FEBB0C8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8752" y="2020824"/>
            <a:ext cx="3455097" cy="3959352"/>
          </a:xfrm>
        </p:spPr>
        <p:txBody>
          <a:bodyPr anchor="ctr">
            <a:normAutofit/>
          </a:bodyPr>
          <a:lstStyle/>
          <a:p>
            <a:r>
              <a:rPr lang="en-US" sz="1800" dirty="0"/>
              <a:t>All aspects of the architecture will be executed in the upcoming semester.</a:t>
            </a:r>
          </a:p>
        </p:txBody>
      </p:sp>
    </p:spTree>
    <p:extLst>
      <p:ext uri="{BB962C8B-B14F-4D97-AF65-F5344CB8AC3E}">
        <p14:creationId xmlns:p14="http://schemas.microsoft.com/office/powerpoint/2010/main" val="964283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ADEC31-087A-5CB5-0AEF-7A4CD52FB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Summary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DF27403-A4BA-7779-23B8-B3DF697949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894139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31734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507850-3DCB-8EA6-AE66-89F3F1A16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865" y="818984"/>
            <a:ext cx="6596245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Thanks!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65E7C-C10D-652B-E8CB-7C0FF4AA2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1874" y="4797188"/>
            <a:ext cx="6051236" cy="124182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r">
              <a:buNone/>
            </a:pP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&lt;Q &amp; A&gt;</a:t>
            </a:r>
          </a:p>
          <a:p>
            <a:pPr marL="0" indent="0" algn="r">
              <a:buNone/>
            </a:pPr>
            <a:r>
              <a:rPr lang="en-US" sz="2400" dirty="0">
                <a:solidFill>
                  <a:srgbClr val="FFFFFF"/>
                </a:solidFill>
              </a:rPr>
              <a:t>&lt;Feedback!&gt;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337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</TotalTime>
  <Words>396</Words>
  <Application>Microsoft Macintosh PowerPoint</Application>
  <PresentationFormat>Widescreen</PresentationFormat>
  <Paragraphs>70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Development of a data-driven approach for understanding discrepancies between design and implementation of inventory policies.</vt:lpstr>
      <vt:lpstr>Overview</vt:lpstr>
      <vt:lpstr>Domain Model</vt:lpstr>
      <vt:lpstr>Architecture Setup</vt:lpstr>
      <vt:lpstr>Initial Hypothesis + Dataset</vt:lpstr>
      <vt:lpstr>EDA and  Pre-processing.</vt:lpstr>
      <vt:lpstr>Modeling. </vt:lpstr>
      <vt:lpstr>Switch to code</vt:lpstr>
      <vt:lpstr>Future Work</vt:lpstr>
      <vt:lpstr>Summary</vt:lpstr>
      <vt:lpstr>Thanks!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Development of a data-driven approach for understanding discrepancies between design and implementation of inventory policies.</dc:title>
  <dc:creator>Sudharshan Bindiganavale Ramesh (RIT Student)</dc:creator>
  <cp:lastModifiedBy>Sudharshan Bindiganavale Ramesh (RIT Student)</cp:lastModifiedBy>
  <cp:revision>2</cp:revision>
  <dcterms:created xsi:type="dcterms:W3CDTF">2022-04-26T21:25:40Z</dcterms:created>
  <dcterms:modified xsi:type="dcterms:W3CDTF">2022-04-27T18:59:01Z</dcterms:modified>
</cp:coreProperties>
</file>